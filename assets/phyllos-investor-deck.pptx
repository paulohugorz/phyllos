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56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184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 Mi)</c:v>
                </c:pt>
              </c:strCache>
            </c:strRef>
          </c:tx>
          <c:spPr>
            <a:solidFill>
              <a:srgbClr val="1E3A2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3A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7CC-3B48-8CE1-DD85057907BC}"/>
              </c:ext>
            </c:extLst>
          </c:dPt>
          <c:dPt>
            <c:idx val="1"/>
            <c:invertIfNegative val="0"/>
            <c:bubble3D val="0"/>
            <c:spPr>
              <a:solidFill>
                <a:srgbClr val="2852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CC-3B48-8CE1-DD85057907BC}"/>
              </c:ext>
            </c:extLst>
          </c:dPt>
          <c:dPt>
            <c:idx val="2"/>
            <c:invertIfNegative val="0"/>
            <c:bubble3D val="0"/>
            <c:spPr>
              <a:solidFill>
                <a:srgbClr val="3266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CC-3B48-8CE1-DD85057907BC}"/>
              </c:ext>
            </c:extLst>
          </c:dPt>
          <c:dPt>
            <c:idx val="3"/>
            <c:invertIfNegative val="0"/>
            <c:bubble3D val="0"/>
            <c:spPr>
              <a:solidFill>
                <a:srgbClr val="4A7C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CC-3B48-8CE1-DD85057907BC}"/>
              </c:ext>
            </c:extLst>
          </c:dPt>
          <c:dPt>
            <c:idx val="4"/>
            <c:invertIfNegative val="0"/>
            <c:bubble3D val="0"/>
            <c:spPr>
              <a:solidFill>
                <a:srgbClr val="7A5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CC-3B48-8CE1-DD85057907BC}"/>
              </c:ext>
            </c:extLst>
          </c:dPt>
          <c:dPt>
            <c:idx val="5"/>
            <c:invertIfNegative val="0"/>
            <c:bubble3D val="0"/>
            <c:spPr>
              <a:solidFill>
                <a:srgbClr val="B870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7CC-3B48-8CE1-DD85057907B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17</c:v>
                </c:pt>
                <c:pt idx="4">
                  <c:v>32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7CC-3B48-8CE1-DD85057907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A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418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DE APRESENTAÇÃO  ·  JUNHO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kern="0" spc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PHYLLOS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926080" cy="45720"/>
          </a:xfrm>
          <a:prstGeom prst="rect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5915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i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roupa que trabalha</a:t>
            </a:r>
            <a:endParaRPr lang="en-US" sz="2500" dirty="0"/>
          </a:p>
          <a:p>
            <a:pPr marL="0" indent="0" algn="l">
              <a:buNone/>
            </a:pPr>
            <a:r>
              <a:rPr lang="en-US" sz="2500" i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</a:t>
            </a:r>
            <a:r>
              <a:rPr lang="en-US" sz="2500" i="1" dirty="0" err="1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</a:t>
            </a:r>
            <a:r>
              <a:rPr lang="en-US" sz="2500" i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8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</a:t>
            </a:r>
            <a:r>
              <a:rPr lang="en-US" sz="125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 err="1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Sustentabilidade</a:t>
            </a:r>
            <a:r>
              <a:rPr lang="en-US" sz="125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50" dirty="0" err="1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0" y="4736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Salvador · Brasil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executiva</a:t>
            </a: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brasileira</a:t>
            </a: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mudou</a:t>
            </a: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com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</a:t>
            </a: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exigências</a:t>
            </a: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</a:t>
            </a: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mercado e o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consumo</a:t>
            </a: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também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27432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55648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55648"/>
            <a:ext cx="2651760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54,5%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mulheres no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(IBGE, 2023)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755648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755648"/>
            <a:ext cx="2651760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874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47472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cargos gerenciais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por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(IBGE, 2022)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55648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755648"/>
            <a:ext cx="2651760" cy="54864"/>
          </a:xfrm>
          <a:prstGeom prst="rect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74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</a:t>
            </a:r>
            <a:r>
              <a:rPr lang="en-US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nacionais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vistam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nova </a:t>
            </a:r>
            <a:r>
              <a:rPr lang="en-US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empresária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93008"/>
            <a:ext cx="8229600" cy="1417320"/>
          </a:xfrm>
          <a:prstGeom prst="rect">
            <a:avLst/>
          </a:prstGeom>
          <a:solidFill>
            <a:srgbClr val="1E3A2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56616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Nenhuma marca nacional combina </a:t>
            </a:r>
            <a:r>
              <a:rPr lang="en-US" sz="1400" dirty="0" err="1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</a:t>
            </a:r>
            <a:r>
              <a:rPr lang="en-US" sz="1400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pilares</a:t>
            </a:r>
            <a:r>
              <a:rPr lang="en-US" sz="1400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</a:t>
            </a:r>
            <a:r>
              <a:rPr lang="en-US" sz="1400" b="1" i="1" dirty="0">
                <a:solidFill>
                  <a:srgbClr val="C88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técnica + sustentabilidade com certificação real + </a:t>
            </a:r>
            <a:r>
              <a:rPr lang="en-US" sz="1400" b="1" i="1" dirty="0" err="1">
                <a:solidFill>
                  <a:srgbClr val="C88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sofisticação</a:t>
            </a:r>
            <a:r>
              <a:rPr lang="en-US" sz="1400" b="1" i="1" dirty="0">
                <a:solidFill>
                  <a:srgbClr val="C88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i="1" dirty="0" err="1">
                <a:solidFill>
                  <a:srgbClr val="C88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</a:t>
            </a:r>
            <a:r>
              <a:rPr lang="en-US" sz="1400" b="1" i="1" dirty="0">
                <a:solidFill>
                  <a:srgbClr val="C88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design.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CB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é o espaço estrutural da Phyllos.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OPORTUNIDADE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mercado de R$23 bilhões. Sem dono no </a:t>
            </a:r>
            <a:r>
              <a:rPr lang="en-US" sz="2600" b="1" dirty="0" err="1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nicho</a:t>
            </a:r>
            <a:r>
              <a:rPr lang="en-US" sz="260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97480" cy="2606040"/>
          </a:xfrm>
          <a:prstGeom prst="rect">
            <a:avLst/>
          </a:prstGeom>
          <a:solidFill>
            <a:srgbClr val="1E4A35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4EFE9"/>
                </a:solidFill>
                <a:latin typeface="Georgia" pitchFamily="34" charset="0"/>
              </a:rPr>
              <a:t>R$23B</a:t>
            </a:r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015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total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executiva feminina Brasil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697480" cy="2606040"/>
          </a:xfrm>
          <a:prstGeom prst="rect">
            <a:avLst/>
          </a:prstGeom>
          <a:solidFill>
            <a:srgbClr val="1A3E2C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R$950M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20440" y="31272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4015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Workwear premium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consciência ambiental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97480" cy="2606040"/>
          </a:xfrm>
          <a:prstGeom prst="rect">
            <a:avLst/>
          </a:prstGeom>
          <a:solidFill>
            <a:srgbClr val="6B3A1A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88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</a:t>
            </a:r>
            <a:r>
              <a:rPr lang="en-US" sz="4000" b="1" dirty="0">
                <a:solidFill>
                  <a:srgbClr val="F4EFE9"/>
                </a:solidFill>
                <a:latin typeface="Georgia" pitchFamily="34" charset="0"/>
              </a:rPr>
              <a:t>50M</a:t>
            </a:r>
          </a:p>
        </p:txBody>
      </p:sp>
      <p:sp>
        <p:nvSpPr>
          <p:cNvPr id="18" name="Text 16"/>
          <p:cNvSpPr/>
          <p:nvPr/>
        </p:nvSpPr>
        <p:spPr>
          <a:xfrm>
            <a:off x="6400800" y="31272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4015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obtível para a Phyllos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5 anos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do segmento workwear sustentável: 9–11% a.a. até 2028  ·  E-commerce de moda premium: 26–30% de penetração em 2026 e crescendo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Phyllos. </a:t>
            </a:r>
            <a:r>
              <a:rPr lang="en-US" sz="28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Roupa</a:t>
            </a:r>
            <a:r>
              <a:rPr lang="en-US" sz="2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símbolo</a:t>
            </a:r>
            <a:r>
              <a:rPr lang="en-US" sz="2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performance.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97480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Alta Performance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técnicos certificados (Econyl, Tencel, GOTS)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Testados por 6 meses antes do lançamento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Wicking, durabilidade, gestão térmica — verificados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reunião ao estúdio sem trocar de roupa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974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463040"/>
            <a:ext cx="2697480" cy="64008"/>
          </a:xfrm>
          <a:prstGeom prst="rect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6276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Consciência Real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20440" y="21945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por SKU com QR code de origem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Certificações: GRS, Bluesign, OEKO-TEX, GOTS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Emissões de CO₂ 57% menores que PA virgem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custódia documentada e auditável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974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63040"/>
            <a:ext cx="2697480" cy="64008"/>
          </a:xfrm>
          <a:prstGeom prst="rect">
            <a:avLst/>
          </a:prstGeom>
          <a:solidFill>
            <a:srgbClr val="9CB4A8"/>
          </a:solidFill>
          <a:ln w="12700">
            <a:solidFill>
              <a:srgbClr val="9CB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6276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Presença Atemporal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 não segue temporada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Estetica executiva que não é nem academia nem escritório formal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que </a:t>
            </a:r>
            <a:r>
              <a:rPr lang="en-US" sz="12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duram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tempo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97480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184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Essencial Run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peças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performance para deslocamento, academia e contexto corporativo casual. Material-âncora: Econyl (PA6 reciclada, QR rastreável). Redução de 57% de CO₂ vs. PA virgem.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2331720" cy="3657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3616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 </a:t>
            </a: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R$290–R$620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974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63040"/>
            <a:ext cx="2697480" cy="64008"/>
          </a:xfrm>
          <a:prstGeom prst="rect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184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 Presence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8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peças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35915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 estúdio-escritório. Tencel Lyocell blend + Modal Lenzing. Toque premium, processo de circuito fechado documentado. Do pilates à reunião de resultados.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20440" y="4343400"/>
            <a:ext cx="2331720" cy="3657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43616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 </a:t>
            </a: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R$190–R$450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6974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463040"/>
            <a:ext cx="2697480" cy="64008"/>
          </a:xfrm>
          <a:prstGeom prst="rect">
            <a:avLst/>
          </a:prstGeom>
          <a:solidFill>
            <a:srgbClr val="9CB4A8"/>
          </a:solidFill>
          <a:ln w="12700">
            <a:solidFill>
              <a:srgbClr val="9CB4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6184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 Essencial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peças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35915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ambientes de trilha e reuniões ao ar livre. PA6 reciclada GRS com DWR fluorine-free. Desempenho técnico sem comprometer os valores da marca.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343400"/>
            <a:ext cx="2331720" cy="3657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3616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 </a:t>
            </a: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R$350–R$620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forças externas trabalham a favor da Phyllos neste momento.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81328"/>
            <a:ext cx="64008" cy="10515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184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0432" y="1618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Regulação global chega ao Brasil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0432" y="20116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EU Digital Product Passport (obrigatório para têxteis na Europa em 2027) vai criar um padrão global de rastreabilidade. Marcas sem cadeia documentada perderão acesso ao segmento premium. A Phyllos já opera com esse padrão — antecipando vantagem enquanto concorrentes correram para se adaptar.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42616"/>
            <a:ext cx="64008" cy="1051560"/>
          </a:xfrm>
          <a:prstGeom prst="rect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797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70432" y="27797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executiva millennial é nativa digital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0432" y="317296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consumidora-alvo da Phyllos (28–45 anos) é nativa digital e foi a que mais migrou para compra online de moda premium. 54,5% das mulheres no mercado formal, 38% em cargos gerenciais — e crescendo. O mercado para quem faz bem no digital é enorme e sub-servido.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803904"/>
            <a:ext cx="64008" cy="1051560"/>
          </a:xfrm>
          <a:prstGeom prst="rect">
            <a:avLst/>
          </a:prstGeom>
          <a:solidFill>
            <a:srgbClr val="9CB4A8"/>
          </a:solidFill>
          <a:ln w="12700">
            <a:solidFill>
              <a:srgbClr val="9CB4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9410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CB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70432" y="39410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Nordeste: mercado premium emergente sem dono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61288" y="4352544"/>
            <a:ext cx="75202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Salvador, Recife, Fortaleza concentram uma classe executiva feminina com renda crescente e acesso precário a marcas premium de qualidade. A janela para ser a marca de referência da executiva nordestina dura 24–36 meses. Depois disso, players nacionais vão perceber a oportunidade.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Digital-first. Direto ao consumidor. Expansão em ondas.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8463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81328"/>
            <a:ext cx="4846320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crescemos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2157984"/>
            <a:ext cx="164592" cy="164592"/>
          </a:xfrm>
          <a:prstGeom prst="ellipse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38528" y="2084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Salvador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local, validação de produto, primeiras 500 clientes ativas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843784"/>
            <a:ext cx="164592" cy="16459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12–24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528" y="2770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 Digital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632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Recife + Fortaleza via e-commerce; posição de referência regional consolidada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" y="3529584"/>
            <a:ext cx="164592" cy="16459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56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24–36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38528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7490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+ RJ via digital; comunidade nordestina como prova social de expansão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" y="4215384"/>
            <a:ext cx="164592" cy="16459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42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4–5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38528" y="4142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física (SP)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434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loja física quando a reputação justificar o investimento em ponto de venda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1481328"/>
            <a:ext cx="3200400" cy="3383280"/>
          </a:xfrm>
          <a:prstGeom prst="rect">
            <a:avLst/>
          </a:prstGeom>
          <a:solidFill>
            <a:srgbClr val="1E3A2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0" y="16276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CB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Economia unitária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77840" y="2084832"/>
            <a:ext cx="3017520" cy="502920"/>
          </a:xfrm>
          <a:prstGeom prst="rect">
            <a:avLst/>
          </a:prstGeom>
          <a:solidFill>
            <a:srgbClr val="1A3D2C"/>
          </a:solidFill>
          <a:ln w="12700">
            <a:solidFill>
              <a:srgbClr val="254D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130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24 meses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15000" y="2340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R$1.200–1.800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77840" y="2651760"/>
            <a:ext cx="3017520" cy="502920"/>
          </a:xfrm>
          <a:prstGeom prst="rect">
            <a:avLst/>
          </a:prstGeom>
          <a:solidFill>
            <a:srgbClr val="1A3D2C"/>
          </a:solidFill>
          <a:ln w="12700">
            <a:solidFill>
              <a:srgbClr val="254D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recompra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15000" y="2907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35–42%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77840" y="3218688"/>
            <a:ext cx="3017520" cy="502920"/>
          </a:xfrm>
          <a:prstGeom prst="rect">
            <a:avLst/>
          </a:prstGeom>
          <a:solidFill>
            <a:srgbClr val="1A3D2C"/>
          </a:solidFill>
          <a:ln w="12700">
            <a:solidFill>
              <a:srgbClr val="254D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3264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estimado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1500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R$90–140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577840" y="3785616"/>
            <a:ext cx="3017520" cy="502920"/>
          </a:xfrm>
          <a:prstGeom prst="rect">
            <a:avLst/>
          </a:prstGeom>
          <a:solidFill>
            <a:srgbClr val="1A3D2C"/>
          </a:solidFill>
          <a:ln w="12700">
            <a:solidFill>
              <a:srgbClr val="254D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38313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715000" y="4041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R$390–520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577840" y="4352544"/>
            <a:ext cx="3017520" cy="502920"/>
          </a:xfrm>
          <a:prstGeom prst="rect">
            <a:avLst/>
          </a:prstGeom>
          <a:solidFill>
            <a:srgbClr val="1A3D2C"/>
          </a:solidFill>
          <a:ln w="12700">
            <a:solidFill>
              <a:srgbClr val="254D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43982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 est.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15000" y="46085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55–65%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COMPETITIVO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espaço</a:t>
            </a: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estrutural</a:t>
            </a: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será</a:t>
            </a: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ocupado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01168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50876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68880" y="1481328"/>
            <a:ext cx="141732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150876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Workwear Core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86200" y="1481328"/>
            <a:ext cx="160020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9352" y="150876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Sustent. Verificável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1481328"/>
            <a:ext cx="141732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9552" y="150876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03720" y="1481328"/>
            <a:ext cx="118872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150876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BR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481328"/>
            <a:ext cx="100584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150876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847088"/>
            <a:ext cx="201168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956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PHYLLOS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1847088"/>
            <a:ext cx="141732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9568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86200" y="1847088"/>
            <a:ext cx="160020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9568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1847088"/>
            <a:ext cx="141732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9568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03720" y="1847088"/>
            <a:ext cx="118872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92440" y="1847088"/>
            <a:ext cx="100584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19568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487168"/>
            <a:ext cx="201168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25968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/ Le Lis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468880" y="2487168"/>
            <a:ext cx="141732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25968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86200" y="2487168"/>
            <a:ext cx="160020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25968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0" y="2487168"/>
            <a:ext cx="141732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25968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903720" y="2487168"/>
            <a:ext cx="118872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5968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092440" y="2487168"/>
            <a:ext cx="100584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25968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3127248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2369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Lululemon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468880" y="3127248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32369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886200" y="3127248"/>
            <a:ext cx="1600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0" y="32369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prog.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0" y="3127248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32369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903720" y="3127248"/>
            <a:ext cx="1188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32369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092440" y="3127248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32369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57200" y="3767328"/>
            <a:ext cx="201168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" y="38770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M.M. LaFleur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468880" y="3767328"/>
            <a:ext cx="141732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14600" y="38770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886200" y="3767328"/>
            <a:ext cx="160020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31920" y="38770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486400" y="3767328"/>
            <a:ext cx="141732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32120" y="38770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903720" y="3767328"/>
            <a:ext cx="118872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38770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092440" y="3767328"/>
            <a:ext cx="1005840" cy="594360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38160" y="3877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57200" y="4407408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45171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Amaro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468880" y="4407408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14600" y="45171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3886200" y="4407408"/>
            <a:ext cx="1600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31920" y="45171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486400" y="4407408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32120" y="45171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903720" y="4407408"/>
            <a:ext cx="1188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49440" y="45171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092440" y="4407408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38160" y="4517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457200" y="49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B8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Phyllos é a única marca que preenche as cinco colunas simultaneamente — no Brasil.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COMPETITIVA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Barreiras</a:t>
            </a:r>
            <a:r>
              <a:rPr lang="en-US" sz="2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br>
              <a:rPr lang="en-US" sz="2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28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Concorrentes</a:t>
            </a:r>
            <a:r>
              <a:rPr lang="en-US" sz="2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</a:t>
            </a:r>
            <a:r>
              <a:rPr lang="en-US" sz="2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replica </a:t>
            </a:r>
            <a:r>
              <a:rPr lang="en-US" sz="280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facilmente</a:t>
            </a:r>
            <a:r>
              <a:rPr lang="en-US" sz="2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9031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990316"/>
            <a:ext cx="64008" cy="65836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000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0817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Rastreabilidade por SKU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208175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por peça vinculado a dossier de origem, certificação e data de produção. Qualquer concorrente copia o design. Ninguém copia 6 meses de teste </a:t>
            </a:r>
            <a:r>
              <a:rPr lang="en-US" sz="11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</a:t>
            </a:r>
            <a:r>
              <a:rPr lang="en-US" sz="11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garantias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31920" y="2100044"/>
            <a:ext cx="27432" cy="438912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2183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721836"/>
            <a:ext cx="64008" cy="658368"/>
          </a:xfrm>
          <a:prstGeom prst="rect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8315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8132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Tecnologia como diferencial operacional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281327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para CRM, personalização e análise de feedback em escala. Operamos com a sofisticação de dados de uma </a:t>
            </a:r>
            <a:r>
              <a:rPr lang="en-US" sz="11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10x </a:t>
            </a:r>
            <a:r>
              <a:rPr lang="en-US" sz="11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que </a:t>
            </a:r>
            <a:r>
              <a:rPr lang="en-US" sz="11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realmente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31920" y="2831564"/>
            <a:ext cx="27432" cy="438912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45643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456436"/>
            <a:ext cx="64008" cy="658368"/>
          </a:xfrm>
          <a:prstGeom prst="rect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5661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35478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Vantagem regulatória antecipada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23360" y="354787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DPP obrigatório em 2027. A Phyllos já opera com rastreabilidade, certificações e documentação de cadeia — o que será obrigatório amanhã, nós fazemos hoje como diferencial de marca.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931920" y="3566164"/>
            <a:ext cx="27432" cy="438912"/>
          </a:xfrm>
          <a:prstGeom prst="rect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PROJEÇÕES FINANCEIRAS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R$2M a R$50M em 5 anos. Margens crescentes.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R$ milhões  ·  Premissas: recompra 38%, ticket médio R$450, LTV de 24 meses R$1.500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355080" y="1417320"/>
            <a:ext cx="2331720" cy="1005840"/>
          </a:xfrm>
          <a:prstGeom prst="rect">
            <a:avLst/>
          </a:prstGeom>
          <a:solidFill>
            <a:srgbClr val="1E3A2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92240" y="15087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em 5 anos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0" y="18013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R$50M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92240" y="22219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2,5–4,5% do SAM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5080" y="2560320"/>
            <a:ext cx="2331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26517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clientes (2031)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92240" y="29443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40k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492240" y="33649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ativas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55080" y="3703320"/>
            <a:ext cx="2331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92240" y="37947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recompra alvo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92240" y="40873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B870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492240" y="45079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3 anos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 DE INVESTIMENTO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janela é de </a:t>
            </a:r>
            <a:r>
              <a:rPr lang="en-US" sz="2600" b="1" dirty="0">
                <a:solidFill>
                  <a:srgbClr val="C88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24–36 meses.</a:t>
            </a:r>
            <a:r>
              <a:rPr lang="en-US" sz="2600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Depois disso,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mercado vai perceber que este nicho existe.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8229600" cy="365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76272"/>
            <a:ext cx="3977640" cy="1261872"/>
          </a:xfrm>
          <a:prstGeom prst="rect">
            <a:avLst/>
          </a:prstGeom>
          <a:solidFill>
            <a:srgbClr val="1E3A2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76272"/>
            <a:ext cx="3977640" cy="54864"/>
          </a:xfrm>
          <a:prstGeom prst="rect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9514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Espaço estrutural verificado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identificado no mercado brasileiro. Nenhuma marca nacional ocupa o quadrante workwear + sustentabilidade verificável + digital-first. SAM de R$950M com crescimento de 9–11% a.a.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977640" cy="1261872"/>
          </a:xfrm>
          <a:prstGeom prst="rect">
            <a:avLst/>
          </a:prstGeom>
          <a:solidFill>
            <a:srgbClr val="1E3A2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566160"/>
            <a:ext cx="3977640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85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capital eficiente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 elimina 35–45% dos custos de uma incumbente com loja física. Margem bruta estimada de 55–65%. LTV de R$1.500 com CAC de R$90–140 = retorno saudável por cliente.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176272"/>
            <a:ext cx="3977640" cy="1261872"/>
          </a:xfrm>
          <a:prstGeom prst="rect">
            <a:avLst/>
          </a:prstGeom>
          <a:solidFill>
            <a:srgbClr val="1E3A2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176272"/>
            <a:ext cx="3977640" cy="54864"/>
          </a:xfrm>
          <a:prstGeom prst="rect">
            <a:avLst/>
          </a:prstGeom>
          <a:solidFill>
            <a:srgbClr val="B8703E"/>
          </a:solidFill>
          <a:ln w="12700">
            <a:solidFill>
              <a:srgbClr val="B870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29514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Tecnologia como multiplicador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46320" y="267919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agentes de IA, CRM, rastreabilidade e automação opera com leverage. A vantagem tecnológica contribui para 30–40% da diferença entre um SOM convencional e o da Phyllos.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566160"/>
            <a:ext cx="3977640" cy="1261872"/>
          </a:xfrm>
          <a:prstGeom prst="rect">
            <a:avLst/>
          </a:prstGeom>
          <a:solidFill>
            <a:srgbClr val="1E3A2F"/>
          </a:solidFill>
          <a:ln/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566160"/>
            <a:ext cx="3977640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685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Fundação impossível de imitar rapidamente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46320" y="406908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nordestina autêntica, certificações reais, 6 meses de teste por produto, comunidade construída. Não é posicionamento de marketing. É produto e cadeia — e leva tempo para construir.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phyllos.com.br  ·  contato@phyllos.com.br  ·  Salvador, Bahia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1171</Words>
  <Application>Microsoft Macintosh PowerPoint</Application>
  <PresentationFormat>Apresentação na tela (16:9)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Phyllos — Investor Deck 2026</dc:title>
  <dc:subject>PptxGenJS Presentation</dc:subject>
  <dc:creator>PptxGenJS</dc:creator>
  <cp:lastModifiedBy>Microsoft Office User</cp:lastModifiedBy>
  <cp:revision>2</cp:revision>
  <dcterms:created xsi:type="dcterms:W3CDTF">2026-06-10T03:45:43Z</dcterms:created>
  <dcterms:modified xsi:type="dcterms:W3CDTF">2026-06-10T16:14:54Z</dcterms:modified>
</cp:coreProperties>
</file>