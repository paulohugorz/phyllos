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 QUE É A PHYLLOS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320040" y="713232"/>
            <a:ext cx="8503920" cy="1783080"/>
          </a:xfrm>
          <a:prstGeom prst="roundRect">
            <a:avLst>
              <a:gd name="adj" fmla="val 5128"/>
            </a:avLst>
          </a:prstGeom>
          <a:solidFill>
            <a:srgbClr val="0F1A12"/>
          </a:solidFill>
          <a:ln w="8890">
            <a:solidFill>
              <a:srgbClr val="2D4A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6400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dirty="0">
                <a:solidFill>
                  <a:srgbClr val="1E3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502920" y="804672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8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PHYLLOS cria o </a:t>
            </a:r>
            <a:pPr indent="0" marL="0">
              <a:buNone/>
            </a:pPr>
            <a:r>
              <a:rPr lang="en-US" sz="16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passaporte digital</a:t>
            </a:r>
            <a:pPr indent="0" marL="0">
              <a:buNone/>
            </a:pPr>
            <a:r>
              <a:rPr lang="en-US" sz="1600" dirty="0">
                <a:solidFill>
                  <a:srgbClr val="E8E8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das roupas.
</a:t>
            </a:r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peça ganha um QR: origem, composição e impacto — com um escaneamento.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0040" y="2578608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01A12"/>
          </a:solidFill>
          <a:ln w="7620">
            <a:solidFill>
              <a:srgbClr val="2D4A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5786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B2B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68880" y="2578608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01A12"/>
          </a:solidFill>
          <a:ln w="7620">
            <a:solidFill>
              <a:srgbClr val="2D4A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25786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 + Regulação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17720" y="2578608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01A12"/>
          </a:solidFill>
          <a:ln w="7620">
            <a:solidFill>
              <a:srgbClr val="2D4A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5786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 → Europa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766560" y="2578608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101A12"/>
          </a:solidFill>
          <a:ln w="7620">
            <a:solidFill>
              <a:srgbClr val="2D4A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25786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944368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4632" y="30358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PAGA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84632" y="3236976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Marcas de Moda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" y="3621024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Independentes, ateliês,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pequenas e médias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46120" y="2944368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10712" y="30358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ENTREGAMOS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410712" y="3236976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QR + Passaporte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410712" y="3621024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com dados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verificáveis por peça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2944368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36792" y="30358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AGORA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336792" y="3236976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 em vigor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336792" y="3621024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 exige DPP têxtil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obrigatório ~2028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 PROBLEMA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moda é opaca por padrão.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Isso está virando problema de negócio.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828800"/>
            <a:ext cx="8503920" cy="621792"/>
          </a:xfrm>
          <a:prstGeom prst="roundRect">
            <a:avLst>
              <a:gd name="adj" fmla="val 11765"/>
            </a:avLst>
          </a:prstGeom>
          <a:solidFill>
            <a:srgbClr val="0F1A12"/>
          </a:solidFill>
          <a:ln w="8890">
            <a:solidFill>
              <a:srgbClr val="2D4A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Regulação EU ESPR (~2028):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peça têxtil vendida na Europa precisará ter passaporte digital com composição, origem e rastreabilidade.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2578608"/>
            <a:ext cx="4160520" cy="2304288"/>
          </a:xfrm>
          <a:prstGeom prst="roundRect">
            <a:avLst>
              <a:gd name="adj" fmla="val 3175"/>
            </a:avLst>
          </a:prstGeom>
          <a:solidFill>
            <a:srgbClr val="1A0A0A"/>
          </a:solidFill>
          <a:ln w="8890">
            <a:solidFill>
              <a:srgbClr val="4A202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" y="26700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9443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técnica no Excel ou papel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330098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na cabeça do fornecedor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3657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Consumidor pergunta, marca não sabe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40142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europeu exige, marca perde contrato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Certificação custa R$20–60k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2578608"/>
            <a:ext cx="4160520" cy="2304288"/>
          </a:xfrm>
          <a:prstGeom prst="roundRect">
            <a:avLst>
              <a:gd name="adj" fmla="val 3175"/>
            </a:avLst>
          </a:prstGeom>
          <a:solidFill>
            <a:srgbClr val="0A150D"/>
          </a:solidFill>
          <a:ln w="8890">
            <a:solidFill>
              <a:srgbClr val="2D4A36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28032" y="26700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PHYLLOS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00600" y="29443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organizados em sistema único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00600" y="330098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na etiqueta responde o que a marca sabe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00600" y="3657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claro: declarado, calculado, verificado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00600" y="40142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lê o link e fecha o pedido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0060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 em R$149 por peça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 SOLUÇÃO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PHYLLOS DPP Studio: arquivo técnico entra, passaporte sai.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65760" y="1408176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= Digital Product Passport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691640"/>
            <a:ext cx="8503920" cy="530352"/>
          </a:xfrm>
          <a:prstGeom prst="roundRect">
            <a:avLst>
              <a:gd name="adj" fmla="val 13793"/>
            </a:avLst>
          </a:prstGeom>
          <a:solidFill>
            <a:srgbClr val="0F1A12"/>
          </a:solidFill>
          <a:ln w="8890">
            <a:solidFill>
              <a:srgbClr val="2D4A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71907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auditoria. Não é consultoria. É software que organiza o que a marca já sabe e publica com QR — sem prometer mais do que está documentado.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331720"/>
            <a:ext cx="3108960" cy="265176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2331720"/>
            <a:ext cx="2971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MARCA TRAZ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520440" y="2331720"/>
            <a:ext cx="2880360" cy="265176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0168" y="2331720"/>
            <a:ext cx="2743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PHYLLOS ENTREGA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492240" y="2331720"/>
            <a:ext cx="2286000" cy="265176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2331720"/>
            <a:ext cx="2148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20040" y="2596896"/>
            <a:ext cx="8503920" cy="402336"/>
          </a:xfrm>
          <a:prstGeom prst="rect">
            <a:avLst/>
          </a:prstGeom>
          <a:solidFill>
            <a:srgbClr val="161616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26334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dos tecidos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30168" y="263347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verificável no passaporte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2670048"/>
            <a:ext cx="1371600" cy="246888"/>
          </a:xfrm>
          <a:prstGeom prst="roundRect">
            <a:avLst>
              <a:gd name="adj" fmla="val 51852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267004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3026664"/>
            <a:ext cx="8503920" cy="402336"/>
          </a:xfrm>
          <a:prstGeom prst="rect">
            <a:avLst/>
          </a:prstGeom>
          <a:solidFill>
            <a:srgbClr val="131313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3063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Fornecedor + nota fiscal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630168" y="306324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básica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0" y="3099816"/>
            <a:ext cx="1371600" cy="246888"/>
          </a:xfrm>
          <a:prstGeom prst="roundRect">
            <a:avLst>
              <a:gd name="adj" fmla="val 51852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309981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3456432"/>
            <a:ext cx="8503920" cy="402336"/>
          </a:xfrm>
          <a:prstGeom prst="rect">
            <a:avLst/>
          </a:prstGeom>
          <a:solidFill>
            <a:srgbClr val="161616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" y="34930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da peça + gramatura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630168" y="349300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água, carbono, energia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0" y="3529584"/>
            <a:ext cx="1371600" cy="246888"/>
          </a:xfrm>
          <a:prstGeom prst="roundRect">
            <a:avLst>
              <a:gd name="adj" fmla="val 51852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0" y="352958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886200"/>
            <a:ext cx="8503920" cy="402336"/>
          </a:xfrm>
          <a:prstGeom prst="rect">
            <a:avLst/>
          </a:prstGeom>
          <a:solidFill>
            <a:srgbClr val="131313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9768" y="39227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GOTS/OEKO-TEX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630168" y="392277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 de verificação independente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583680" y="3959352"/>
            <a:ext cx="1371600" cy="246888"/>
          </a:xfrm>
          <a:prstGeom prst="roundRect">
            <a:avLst>
              <a:gd name="adj" fmla="val 51852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395935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0040" y="4315968"/>
            <a:ext cx="8503920" cy="402336"/>
          </a:xfrm>
          <a:prstGeom prst="rect">
            <a:avLst/>
          </a:prstGeom>
          <a:solidFill>
            <a:srgbClr val="161616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9768" y="435254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ainda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630168" y="435254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aparece como ausente — sem greenwashing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583680" y="4389120"/>
            <a:ext cx="1371600" cy="246888"/>
          </a:xfrm>
          <a:prstGeom prst="roundRect">
            <a:avLst>
              <a:gd name="adj" fmla="val 51852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438912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COMO FUNCIONA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passos. Uma sessão de 60 minutos.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passaporte digital pronto.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97764" y="1920240"/>
            <a:ext cx="1051560" cy="658368"/>
          </a:xfrm>
          <a:prstGeom prst="roundRect">
            <a:avLst>
              <a:gd name="adj" fmla="val 9722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7764" y="192024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técnica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49324" y="2121408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13916" y="1920240"/>
            <a:ext cx="1051560" cy="658368"/>
          </a:xfrm>
          <a:prstGeom prst="roundRect">
            <a:avLst>
              <a:gd name="adj" fmla="val 9722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13916" y="192024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665476" y="2121408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0068" y="1920240"/>
            <a:ext cx="1051560" cy="658368"/>
          </a:xfrm>
          <a:prstGeom prst="roundRect">
            <a:avLst>
              <a:gd name="adj" fmla="val 9722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0068" y="192024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881628" y="2121408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46220" y="1920240"/>
            <a:ext cx="1051560" cy="658368"/>
          </a:xfrm>
          <a:prstGeom prst="roundRect">
            <a:avLst>
              <a:gd name="adj" fmla="val 9722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46220" y="192024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Área/perda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97780" y="2121408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62372" y="1920240"/>
            <a:ext cx="1051560" cy="658368"/>
          </a:xfrm>
          <a:prstGeom prst="roundRect">
            <a:avLst>
              <a:gd name="adj" fmla="val 9722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2372" y="192024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313932" y="2121408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78524" y="1920240"/>
            <a:ext cx="1051560" cy="658368"/>
          </a:xfrm>
          <a:prstGeom prst="roundRect">
            <a:avLst>
              <a:gd name="adj" fmla="val 9722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8524" y="192024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530084" y="2121408"/>
            <a:ext cx="164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94676" y="1920240"/>
            <a:ext cx="1051560" cy="658368"/>
          </a:xfrm>
          <a:prstGeom prst="roundRect">
            <a:avLst>
              <a:gd name="adj" fmla="val 9722"/>
            </a:avLst>
          </a:prstGeom>
          <a:solidFill>
            <a:srgbClr val="0F2018"/>
          </a:solidFill>
          <a:ln w="15240">
            <a:solidFill>
              <a:srgbClr val="4CAF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4676" y="192024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QR/Passaporte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20040" y="272491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4632" y="28163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MÍNIMOS — TIER 1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57200" y="3072384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e código da peça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401568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de fibras (%)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730752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 de fabricação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059936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de lavagem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38912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Orientação de descarte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7091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QR gerado em ~45 min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724912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828032" y="28163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DADOS — TIER 2/3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00600" y="307238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Gramatura + área → carbono calculado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00600" y="35478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Fornecedor + NF → documentado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00600" y="4023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GOTS → verificado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800600" y="45537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 competitivo frente a quem só declara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MERCADO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mercado global que vai ter que se adaptar de qualquer jeito.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20040" y="164592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MARCAS INDEPENDENTES BR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66344" y="195681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~12.000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66344" y="24688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1–5 SKUs ativas. As maiores já sentem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buyers internacionais.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64592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92424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REGULAÇÃO EU OBRIGATÓRIA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392424" y="195681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~2028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392424" y="24688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têxtil exigido para vender na Europa.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de mercado DPP: 45,7% até 2030.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72200" y="164592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18504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SaaS B2B — FASE 3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318504" y="195681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2,5M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18504" y="24688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estimado com múltiplos clientes 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para plataformas e buyers.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5760" y="32186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DE ARR POR FASE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65760" y="349300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298448" y="3584448"/>
            <a:ext cx="3840480" cy="128016"/>
          </a:xfrm>
          <a:prstGeom prst="rect">
            <a:avLst/>
          </a:prstGeom>
          <a:solidFill>
            <a:srgbClr val="1E1E1E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98448" y="3584448"/>
            <a:ext cx="115214" cy="128016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65760" y="385876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298448" y="3950208"/>
            <a:ext cx="3840480" cy="128016"/>
          </a:xfrm>
          <a:prstGeom prst="rect">
            <a:avLst/>
          </a:prstGeom>
          <a:solidFill>
            <a:srgbClr val="1E1E1E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98448" y="3950208"/>
            <a:ext cx="460858" cy="128016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30368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R$149–299/DPP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65760" y="422452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298448" y="4315968"/>
            <a:ext cx="3840480" cy="128016"/>
          </a:xfrm>
          <a:prstGeom prst="rect">
            <a:avLst/>
          </a:prstGeom>
          <a:solidFill>
            <a:srgbClr val="1E1E1E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98448" y="4315968"/>
            <a:ext cx="1152144" cy="128016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30368" y="4224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R$490/mês/marca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65760" y="459028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298448" y="4681728"/>
            <a:ext cx="3840480" cy="128016"/>
          </a:xfrm>
          <a:prstGeom prst="rect">
            <a:avLst/>
          </a:prstGeom>
          <a:solidFill>
            <a:srgbClr val="1E1E1E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98448" y="4681728"/>
            <a:ext cx="3840480" cy="128016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45902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400K–2,5M ARR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0040" y="4078224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0F1A12"/>
          </a:solidFill>
          <a:ln w="8890">
            <a:solidFill>
              <a:srgbClr val="2D4A3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4133088"/>
            <a:ext cx="82296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 como o NF-e para o varejo. Antes da lei, ninguém usava. Quando a lei chegou, todo mundo precisou. </a:t>
            </a:r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PHYLLOS quer ser a empresa que já está operando quando a lei apertar.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MODELO DE NEGÓCIO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rotas de receita. Margens de software puro.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2240280" cy="27432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554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651760" y="1554480"/>
            <a:ext cx="2240280" cy="27432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61488" y="1554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983480" y="1554480"/>
            <a:ext cx="1920240" cy="27432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93208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6995160" y="1554480"/>
            <a:ext cx="1691640" cy="27432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04888" y="1554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8503920" cy="493776"/>
          </a:xfrm>
          <a:prstGeom prst="rect">
            <a:avLst/>
          </a:prstGeom>
          <a:solidFill>
            <a:srgbClr val="161616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187452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passaporte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761488" y="187452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com 1–3 SKUs testando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93208" y="187452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R$149–299 / DPP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04888" y="187452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Pós-piloto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359152"/>
            <a:ext cx="8503920" cy="493776"/>
          </a:xfrm>
          <a:prstGeom prst="rect">
            <a:avLst/>
          </a:prstGeom>
          <a:solidFill>
            <a:srgbClr val="131313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2404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mensal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61488" y="2404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ativa, múltiplos SKUs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93208" y="2404872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R$490/mês (até 10 SKUs)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104888" y="240487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2889504"/>
            <a:ext cx="8503920" cy="493776"/>
          </a:xfrm>
          <a:prstGeom prst="rect">
            <a:avLst/>
          </a:prstGeom>
          <a:solidFill>
            <a:srgbClr val="161616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293522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Plataforma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61488" y="293522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Marketplace, buyer, B2B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93208" y="2935224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anual USD 20–200K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04888" y="293522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493008"/>
            <a:ext cx="1993392" cy="1444752"/>
          </a:xfrm>
          <a:prstGeom prst="roundRect">
            <a:avLst>
              <a:gd name="adj" fmla="val 5063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" y="358444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INFRA — PILOTO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38912" y="37673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R$27,50/mês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438912" y="422452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Hobby: crédito de uso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cobre workloads leves.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423160" y="3493008"/>
            <a:ext cx="1993392" cy="1444752"/>
          </a:xfrm>
          <a:prstGeom prst="roundRect">
            <a:avLst>
              <a:gd name="adj" fmla="val 5063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587752" y="358444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STEP-FUNCTION OUT/2026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542032" y="37673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R$253/mês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2542032" y="422452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Pro + Supabase Pro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ativar 1º cliente pagante.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26280" y="3493008"/>
            <a:ext cx="1993392" cy="1444752"/>
          </a:xfrm>
          <a:prstGeom prst="roundRect">
            <a:avLst>
              <a:gd name="adj" fmla="val 5063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690872" y="358444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MARGEM BRUTA POR DPP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645152" y="37673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99,9%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4645152" y="422452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COGS: R$0,01/passaporte.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nunca comprime margem.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629400" y="3493008"/>
            <a:ext cx="2176272" cy="1444752"/>
          </a:xfrm>
          <a:prstGeom prst="roundRect">
            <a:avLst>
              <a:gd name="adj" fmla="val 5063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793992" y="358444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2027 (REVISADO)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748272" y="376732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6748272" y="4224528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Revisado com infra real.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62% na estimativa anterior.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ANÁLISE FINANCEIRA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Investimento mínimo. Retorno assimétrico. Breakeven em 9 meses.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20040" y="1645920"/>
            <a:ext cx="2084832" cy="1353312"/>
          </a:xfrm>
          <a:prstGeom prst="roundRect">
            <a:avLst>
              <a:gd name="adj" fmla="val 5405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7373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DIRETO TOTAL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R$4.440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57200" y="2414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1º cliente pagante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(Claude Code + infra + domínio)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645920"/>
            <a:ext cx="2084832" cy="1353312"/>
          </a:xfrm>
          <a:prstGeom prst="roundRect">
            <a:avLst>
              <a:gd name="adj" fmla="val 5405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70048" y="17373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OPERACIONAL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670048" y="193852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Mar/2027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670048" y="2414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meses após cobrar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FCL acumulado &gt; 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45736" y="1645920"/>
            <a:ext cx="2084832" cy="1353312"/>
          </a:xfrm>
          <a:prstGeom prst="roundRect">
            <a:avLst>
              <a:gd name="adj" fmla="val 5405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82896" y="17373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A 5 ANOS · 25% a.a.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882896" y="193852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R$869K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82896" y="2414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startup early-stage BR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58584" y="1645920"/>
            <a:ext cx="2084832" cy="1353312"/>
          </a:xfrm>
          <a:prstGeom prst="roundRect">
            <a:avLst>
              <a:gd name="adj" fmla="val 5405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95744" y="17373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 — ASSINATURA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7095744" y="193852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19,6×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95744" y="2414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SaaS saudável é &gt; 3×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payback: 1 mês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31272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(IRR) POR CENÁRIO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20040" y="3383280"/>
            <a:ext cx="2788920" cy="1572768"/>
          </a:xfrm>
          <a:prstGeom prst="roundRect">
            <a:avLst>
              <a:gd name="adj" fmla="val 5814"/>
            </a:avLst>
          </a:prstGeom>
          <a:solidFill>
            <a:srgbClr val="14100A"/>
          </a:solidFill>
          <a:ln w="10160">
            <a:solidFill>
              <a:srgbClr val="4A3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4747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4632" y="367588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~180% a.a.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84632" y="4151376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22 meses · VPL R$159K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64408" y="3383280"/>
            <a:ext cx="2788920" cy="1572768"/>
          </a:xfrm>
          <a:prstGeom prst="roundRect">
            <a:avLst>
              <a:gd name="adj" fmla="val 5814"/>
            </a:avLst>
          </a:prstGeom>
          <a:solidFill>
            <a:srgbClr val="0A150D"/>
          </a:solidFill>
          <a:ln w="10160">
            <a:solidFill>
              <a:srgbClr val="2D4A3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29000" y="34747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29000" y="367588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~850% a.a.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3429000" y="4151376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9 meses · VPL R$869K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08776" y="3383280"/>
            <a:ext cx="2788920" cy="1572768"/>
          </a:xfrm>
          <a:prstGeom prst="roundRect">
            <a:avLst>
              <a:gd name="adj" fmla="val 5814"/>
            </a:avLst>
          </a:prstGeom>
          <a:solidFill>
            <a:srgbClr val="0A1814"/>
          </a:solidFill>
          <a:ln w="10160">
            <a:solidFill>
              <a:srgbClr val="1D6E5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73368" y="34747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OTIMISTA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373368" y="367588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&gt;2.000% a.a.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373368" y="4151376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6 meses · VPL R$4,5M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elevada reflete investimento inicial próximo de zero — não ausência de risco. O risco real é de execução e validação de mercado.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VALUATION E CAPTAÇÃO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captar antes do breakeven. Quando captar, com poder de barganha.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2788920" cy="1719072"/>
          </a:xfrm>
          <a:prstGeom prst="roundRect">
            <a:avLst>
              <a:gd name="adj" fmla="val 5319"/>
            </a:avLst>
          </a:prstGeom>
          <a:solidFill>
            <a:srgbClr val="14100A"/>
          </a:solidFill>
          <a:ln w="10160">
            <a:solidFill>
              <a:srgbClr val="4A3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· PRÉ-PILOTO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84632" y="186537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R$3M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84632" y="2414016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 Out/2026 · discount 25–30%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ARR comprovado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64408" y="1554480"/>
            <a:ext cx="2788920" cy="1719072"/>
          </a:xfrm>
          <a:prstGeom prst="roundRect">
            <a:avLst>
              <a:gd name="adj" fmla="val 5319"/>
            </a:avLst>
          </a:prstGeom>
          <a:solidFill>
            <a:srgbClr val="0A150D"/>
          </a:solidFill>
          <a:ln w="10160">
            <a:solidFill>
              <a:srgbClr val="2D4A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PÓS 1º CLIENTE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429000" y="186537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R$5M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429000" y="2414016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Out/2026 · discount 20%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cliente pagante confirmado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08776" y="1554480"/>
            <a:ext cx="2788920" cy="1719072"/>
          </a:xfrm>
          <a:prstGeom prst="roundRect">
            <a:avLst>
              <a:gd name="adj" fmla="val 5319"/>
            </a:avLst>
          </a:prstGeom>
          <a:solidFill>
            <a:srgbClr val="0A1814"/>
          </a:solidFill>
          <a:ln w="10160">
            <a:solidFill>
              <a:srgbClr val="1D6E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3368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OTIMISTA · PÓS ARR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373368" y="186537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CAF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R$8M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373368" y="2414016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&gt; R$50K + Q1/2027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LTV/CAC &gt; 10× medido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3401568"/>
            <a:ext cx="8503920" cy="566928"/>
          </a:xfrm>
          <a:prstGeom prst="roundRect">
            <a:avLst>
              <a:gd name="adj" fmla="val 12903"/>
            </a:avLst>
          </a:prstGeom>
          <a:solidFill>
            <a:srgbClr val="0F1A12"/>
          </a:solidFill>
          <a:ln w="8890">
            <a:solidFill>
              <a:srgbClr val="2D4A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438144"/>
            <a:ext cx="8229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Comparável: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Retraced (DPP compliance de moda, Europa) captou EUR 15M Série A com ~USD 3,2M ARR → </a:t>
            </a:r>
            <a:pPr indent="0" marL="0">
              <a:buNone/>
            </a:pPr>
            <a:r>
              <a:rPr lang="en-US" sz="1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múltiplo de 15× ARR.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DPP market CAGR 45,7% até 2030.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4069080"/>
            <a:ext cx="2240280" cy="246888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4069080"/>
            <a:ext cx="21214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651760" y="4069080"/>
            <a:ext cx="2240280" cy="246888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4069080"/>
            <a:ext cx="21214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CONDIÇÃO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983480" y="4069080"/>
            <a:ext cx="1920240" cy="246888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4920" y="4069080"/>
            <a:ext cx="1801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5160" y="4069080"/>
            <a:ext cx="1691640" cy="246888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4069080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8503920" cy="237744"/>
          </a:xfrm>
          <a:prstGeom prst="rect">
            <a:avLst/>
          </a:prstGeom>
          <a:solidFill>
            <a:srgbClr val="161616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4343400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Mar/2027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743200" y="4343400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se B2B urgente exigir dev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74920" y="4343400"/>
            <a:ext cx="1801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R$100–200K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86600" y="4343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Exceção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4562856"/>
            <a:ext cx="8503920" cy="237744"/>
          </a:xfrm>
          <a:prstGeom prst="rect">
            <a:avLst/>
          </a:prstGeom>
          <a:solidFill>
            <a:srgbClr val="131313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459028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 Mar/2027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743200" y="459028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ARR&gt;R$80K + LTV/CAC&gt;5×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074920" y="4590288"/>
            <a:ext cx="1801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R$300–600K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086600" y="4590288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cap R$5M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4809744"/>
            <a:ext cx="8503920" cy="237744"/>
          </a:xfrm>
          <a:prstGeom prst="rect">
            <a:avLst/>
          </a:prstGeom>
          <a:solidFill>
            <a:srgbClr val="161616"/>
          </a:solidFill>
          <a:ln w="381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837176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 Dez/2027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743200" y="4837176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ARR&gt;R$150K + churn&lt;5%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074920" y="4837176"/>
            <a:ext cx="1801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R$1–2M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086600" y="4837176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A · equity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PROTEÇÃO DE PROPRIEDADE INTELECTUAL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 secret é a proteção primária. Patente de software é caminho errado.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8503920" cy="502920"/>
          </a:xfrm>
          <a:prstGeom prst="roundRect">
            <a:avLst>
              <a:gd name="adj" fmla="val 14545"/>
            </a:avLst>
          </a:prstGeom>
          <a:solidFill>
            <a:srgbClr val="140A0A"/>
          </a:solidFill>
          <a:ln w="8890">
            <a:solidFill>
              <a:srgbClr val="4A2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91056"/>
            <a:ext cx="8229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Art. 50 — deadline: 2 de agosto de 2026. </a:t>
            </a:r>
            <a:pPr indent="0" marL="0">
              <a:buNone/>
            </a:pPr>
            <a:r>
              <a:rPr lang="en-US" sz="9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conversacionais de IA devem informar o usuário. Fichas técnicas geradas por IA precisam de marcação. Penalidade: EUR 35M ou 7% do faturamento global.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217627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" y="226771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Assignment + NDA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8056" y="2505456"/>
            <a:ext cx="2542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colaborador antes de qualquer conversa externa.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isso a PI pode ser disputada em due diligence.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8056" y="3035808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303580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R$3–7K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325880" y="30540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Imediato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64408" y="217627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92424" y="226771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marca INPI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92424" y="2505456"/>
            <a:ext cx="2542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PHYLLOS classes 25+42, Fashion OS 35+42.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prioritário INPI — janela fecha agosto/2026.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92424" y="3035808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2424" y="303580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R$6–10K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270248" y="30540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Agosto/2026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08776" y="217627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36792" y="226771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software INPI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336792" y="2505456"/>
            <a:ext cx="2542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 OS e AAO no e-Software.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prova datada admissível em litígio. Código criptografado.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36792" y="3035808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36792" y="303580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R$500–2K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214616" y="30540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dias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345643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" y="354787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Conformidade EU AI Act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8056" y="3785616"/>
            <a:ext cx="2542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nos Termos de Serviço antes 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de cliente europeu. Deadline 02/08/2026.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8056" y="4315968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8056" y="431596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R$2–5K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325880" y="433425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02/08/2026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64408" y="345643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92424" y="354787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data no corpus PLC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392424" y="3785616"/>
            <a:ext cx="2542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termos sentinela fabricados. Se aparecerem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concorrente: evidência direta de cópia.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92424" y="4315968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92424" y="431596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270248" y="433425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Imediato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08776" y="345643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36792" y="354787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em vault (Railway Secrets)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36792" y="3785616"/>
            <a:ext cx="2542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prompts dos 51 agentes em banco criptografado.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fora de código-fonte.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36792" y="4315968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36792" y="431596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14616" y="433425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Imediato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ESTÁGIO ATUAL E DECISÕES DO BOARD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construído. Board deliberou. Piloto em agosto.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572768"/>
            <a:ext cx="4160520" cy="3429000"/>
          </a:xfrm>
          <a:prstGeom prst="roundRect">
            <a:avLst>
              <a:gd name="adj" fmla="val 2667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66420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84632" y="1965960"/>
            <a:ext cx="100584" cy="100584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4924" y="2066544"/>
            <a:ext cx="0" cy="347472"/>
          </a:xfrm>
          <a:prstGeom prst="line">
            <a:avLst/>
          </a:prstGeom>
          <a:noFill/>
          <a:ln w="1016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19202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Jun/2026 — Concluído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67512" y="20939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DPP + Studio v0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26771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QR real + interface 7 etapas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84632" y="2459736"/>
            <a:ext cx="100584" cy="100584"/>
          </a:xfrm>
          <a:prstGeom prst="ellipse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4924" y="2560320"/>
            <a:ext cx="0" cy="347472"/>
          </a:xfrm>
          <a:prstGeom prst="line">
            <a:avLst/>
          </a:prstGeom>
          <a:noFill/>
          <a:ln w="1016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2414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Jun/2026 — Concluído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67512" y="25877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financeira + board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7512" y="276148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 model + 4 deliberações formais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4632" y="2953512"/>
            <a:ext cx="100584" cy="100584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4924" y="3054096"/>
            <a:ext cx="0" cy="347472"/>
          </a:xfrm>
          <a:prstGeom prst="line">
            <a:avLst/>
          </a:prstGeom>
          <a:noFill/>
          <a:ln w="1016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2907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Jul/2026 — Agora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67512" y="3081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 das marcas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7512" y="325526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para 5 marcas. Meta: 3 em 48h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4632" y="3447288"/>
            <a:ext cx="100584" cy="10058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4924" y="3547872"/>
            <a:ext cx="0" cy="347472"/>
          </a:xfrm>
          <a:prstGeom prst="line">
            <a:avLst/>
          </a:prstGeom>
          <a:noFill/>
          <a:ln w="1016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4015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Ago/2026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67512" y="35753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assistido 3–5 marcas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7512" y="3749040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min/sessão. Custo: R$27,50/mês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4632" y="3941064"/>
            <a:ext cx="100584" cy="10058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4924" y="4041648"/>
            <a:ext cx="0" cy="347472"/>
          </a:xfrm>
          <a:prstGeom prst="line">
            <a:avLst/>
          </a:prstGeom>
          <a:noFill/>
          <a:ln w="1016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8953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Out/2026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67512" y="40690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 cliente pagante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7512" y="424281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sobe para R$253/mês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4632" y="4434840"/>
            <a:ext cx="100584" cy="10058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" y="43891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Mar/2027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67512" y="45628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operacional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67512" y="47365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FCL acumulado &gt; 0. Valuation R$5M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17720" y="1572768"/>
            <a:ext cx="4187952" cy="3429000"/>
          </a:xfrm>
          <a:prstGeom prst="roundRect">
            <a:avLst>
              <a:gd name="adj" fmla="val 2667"/>
            </a:avLst>
          </a:prstGeom>
          <a:solidFill>
            <a:srgbClr val="1A1A1A"/>
          </a:solidFill>
          <a:ln w="8890">
            <a:solidFill>
              <a:srgbClr val="2A2A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166420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DELIBERAÇÕES DO BOARD — 25 JUN 2026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736592" y="1920240"/>
            <a:ext cx="3913632" cy="694944"/>
          </a:xfrm>
          <a:prstGeom prst="roundRect">
            <a:avLst>
              <a:gd name="adj" fmla="val 10526"/>
            </a:avLst>
          </a:prstGeom>
          <a:solidFill>
            <a:srgbClr val="0A150D"/>
          </a:solidFill>
          <a:ln w="7620">
            <a:solidFill>
              <a:srgbClr val="2D4A3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64608" y="197510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</a:t>
            </a:r>
            <a:pPr indent="0" marL="0">
              <a:buNone/>
            </a:pPr>
            <a:r>
              <a:rPr lang="en-US" sz="1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Go-on do piloto em agosto/2026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64608" y="219456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deslocada de julho → agosto.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go/no-go inalterados.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36592" y="2688336"/>
            <a:ext cx="3913632" cy="694944"/>
          </a:xfrm>
          <a:prstGeom prst="roundRect">
            <a:avLst>
              <a:gd name="adj" fmla="val 10526"/>
            </a:avLst>
          </a:prstGeom>
          <a:solidFill>
            <a:srgbClr val="0A150D"/>
          </a:solidFill>
          <a:ln w="7620">
            <a:solidFill>
              <a:srgbClr val="2D4A3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64608" y="27432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</a:t>
            </a:r>
            <a:pPr indent="0" marL="0">
              <a:buNone/>
            </a:pPr>
            <a:r>
              <a:rPr lang="en-US" sz="1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recomendação do CFO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64608" y="296265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antes de captar.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hire somente com ARR &gt; R$120K.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36592" y="3456432"/>
            <a:ext cx="3913632" cy="694944"/>
          </a:xfrm>
          <a:prstGeom prst="roundRect">
            <a:avLst>
              <a:gd name="adj" fmla="val 10526"/>
            </a:avLst>
          </a:prstGeom>
          <a:solidFill>
            <a:srgbClr val="0A150D"/>
          </a:solidFill>
          <a:ln w="7620">
            <a:solidFill>
              <a:srgbClr val="2D4A3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64608" y="35112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</a:t>
            </a:r>
            <a:pPr indent="0" marL="0">
              <a:buNone/>
            </a:pPr>
            <a:r>
              <a:rPr lang="en-US" sz="1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não captação pré-breakeven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864608" y="37307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captação antes de Mar/2027.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Exceção apenas para contrato B2B urgente.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736592" y="4224528"/>
            <a:ext cx="3913632" cy="694944"/>
          </a:xfrm>
          <a:prstGeom prst="roundRect">
            <a:avLst>
              <a:gd name="adj" fmla="val 10526"/>
            </a:avLst>
          </a:prstGeom>
          <a:solidFill>
            <a:srgbClr val="0A150D"/>
          </a:solidFill>
          <a:ln w="7620">
            <a:solidFill>
              <a:srgbClr val="2D4A3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64608" y="4279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</a:t>
            </a:r>
            <a:pPr indent="0" marL="0">
              <a:buNone/>
            </a:pPr>
            <a:r>
              <a:rPr lang="en-US" sz="100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revisado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864608" y="449884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R$5M base (pós 1º cliente).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R$8M otimista (ARR&gt;R$50K + Q1/2027).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PHYLLOS </a:t>
            </a:r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PRÓXIMOS PASSOS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frentes nos próximos 30 dias.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2788920" cy="2395728"/>
          </a:xfrm>
          <a:prstGeom prst="roundRect">
            <a:avLst>
              <a:gd name="adj" fmla="val 3817"/>
            </a:avLst>
          </a:prstGeom>
          <a:solidFill>
            <a:srgbClr val="0A150D"/>
          </a:solidFill>
          <a:ln w="10160">
            <a:solidFill>
              <a:srgbClr val="2D4A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6459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84632" y="195681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Recrutar 5 marcas para piloto de agosto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" y="259689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warm-up cron job Supabase (evitar pausa free tier)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" y="323697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QR em domínio público estável antes de etiqueta física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64408" y="1554480"/>
            <a:ext cx="2788920" cy="2395728"/>
          </a:xfrm>
          <a:prstGeom prst="roundRect">
            <a:avLst>
              <a:gd name="adj" fmla="val 3817"/>
            </a:avLst>
          </a:prstGeom>
          <a:solidFill>
            <a:srgbClr val="140A0A"/>
          </a:solidFill>
          <a:ln w="10160">
            <a:solidFill>
              <a:srgbClr val="4A2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6459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/ PI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29000" y="195681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Assignment + NDA com todos os colaboradores — R$3–7K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29000" y="259689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Protocolar marca PHYLLOS no INPI (classes 25+42) — janela agosto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9000" y="323697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Conformidade EU AI Act Art. 50 — deadline 02/08/2026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08776" y="1554480"/>
            <a:ext cx="2788920" cy="2395728"/>
          </a:xfrm>
          <a:prstGeom prst="roundRect">
            <a:avLst>
              <a:gd name="adj" fmla="val 3817"/>
            </a:avLst>
          </a:prstGeom>
          <a:solidFill>
            <a:srgbClr val="14100A"/>
          </a:solidFill>
          <a:ln w="10160">
            <a:solidFill>
              <a:srgbClr val="4A3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16459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373368" y="195681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orçamento piloto: R$27,50/mês × 3 meses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73368" y="259689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forma de cobrança e emissão de NF do 1º DPP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73368" y="3236976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DPP Schema JSON-LD como OSS (Apache 2.0) — Q3/2026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4059936"/>
            <a:ext cx="8503920" cy="384048"/>
          </a:xfrm>
          <a:prstGeom prst="roundRect">
            <a:avLst>
              <a:gd name="adj" fmla="val 19048"/>
            </a:avLst>
          </a:prstGeom>
          <a:solidFill>
            <a:srgbClr val="0F1A12"/>
          </a:solidFill>
          <a:ln w="8890">
            <a:solidFill>
              <a:srgbClr val="2D4A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0965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imediato (30 dias): </a:t>
            </a:r>
            <a:pPr indent="0" marL="0">
              <a:buNone/>
            </a:pPr>
            <a:r>
              <a:rPr lang="en-US" sz="105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R$12–22K legal/PI  +  R$27,50 infra  =  investimento total pré-piloto de </a:t>
            </a:r>
            <a:pPr indent="0" marL="0">
              <a:buNone/>
            </a:pPr>
            <a:r>
              <a:rPr lang="en-US" sz="1050" b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R$12–26K all-in.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517136"/>
            <a:ext cx="8503920" cy="457200"/>
          </a:xfrm>
          <a:prstGeom prst="roundRect">
            <a:avLst>
              <a:gd name="adj" fmla="val 16000"/>
            </a:avLst>
          </a:prstGeom>
          <a:solidFill>
            <a:srgbClr val="0F2018"/>
          </a:solidFill>
          <a:ln w="8890">
            <a:solidFill>
              <a:srgbClr val="2D4A3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53542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5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"Você já sabe o que tem na sua peça. A PHYLLOS deixa qualquer pessoa descobrir isso com um QR."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PHYLLOS — Apresentação para Diretoria v2</dc:title>
  <dc:subject>PptxGenJS Presentation</dc:subject>
  <dc:creator>PHYLLOS</dc:creator>
  <cp:lastModifiedBy>PHYLLOS</cp:lastModifiedBy>
  <cp:revision>1</cp:revision>
  <dcterms:created xsi:type="dcterms:W3CDTF">2026-06-25T17:06:14Z</dcterms:created>
  <dcterms:modified xsi:type="dcterms:W3CDTF">2026-06-25T17:06:14Z</dcterms:modified>
</cp:coreProperties>
</file>