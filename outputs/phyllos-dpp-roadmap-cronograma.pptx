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b199c521fe4a6c" /><Relationship Type="http://schemas.openxmlformats.org/officeDocument/2006/relationships/extended-properties" Target="/docProps/app.xml" Id="Ra85403f3d7b64dd3" /><Relationship Type="http://schemas.openxmlformats.org/officeDocument/2006/relationships/officeDocument" Target="/ppt/presentation.xml" Id="R41b63f24714449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915b69079344a5"/>
  </p:sldMasterIdLst>
  <p:notesMasterIdLst>
    <p:notesMasterId xmlns:r="http://schemas.openxmlformats.org/officeDocument/2006/relationships" r:id="Rd7165aadb72449fc"/>
  </p:notesMasterIdLst>
  <p:sldIdLst>
    <p:sldId xmlns:r="http://schemas.openxmlformats.org/officeDocument/2006/relationships" id="256" r:id="R8fe2e5e1c0f44aa1"/>
    <p:sldId xmlns:r="http://schemas.openxmlformats.org/officeDocument/2006/relationships" id="257" r:id="Re27c26785d6c4f99"/>
    <p:sldId xmlns:r="http://schemas.openxmlformats.org/officeDocument/2006/relationships" id="258" r:id="R6cd4eeafd3bd42d2"/>
    <p:sldId xmlns:r="http://schemas.openxmlformats.org/officeDocument/2006/relationships" id="259" r:id="R6f6b42ad39334923"/>
    <p:sldId xmlns:r="http://schemas.openxmlformats.org/officeDocument/2006/relationships" id="260" r:id="Rb174c5cc53454760"/>
    <p:sldId xmlns:r="http://schemas.openxmlformats.org/officeDocument/2006/relationships" id="261" r:id="R24ab20935f484891"/>
    <p:sldId xmlns:r="http://schemas.openxmlformats.org/officeDocument/2006/relationships" id="262" r:id="Rc31c9ebaa3de4543"/>
    <p:sldId xmlns:r="http://schemas.openxmlformats.org/officeDocument/2006/relationships" id="263" r:id="Ra7a48fad89404b53"/>
    <p:sldId xmlns:r="http://schemas.openxmlformats.org/officeDocument/2006/relationships" id="264" r:id="R6d28ce1ad6e44a08"/>
    <p:sldId xmlns:r="http://schemas.openxmlformats.org/officeDocument/2006/relationships" id="265" r:id="R423480304f0e4f38"/>
    <p:sldId xmlns:r="http://schemas.openxmlformats.org/officeDocument/2006/relationships" id="266" r:id="Rff627ed97a7f412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c16c9f72e040a2" /><Relationship Type="http://schemas.openxmlformats.org/officeDocument/2006/relationships/slideMaster" Target="/ppt/slideMasters/slideMaster1.xml" Id="R08915b69079344a5" /><Relationship Type="http://schemas.openxmlformats.org/officeDocument/2006/relationships/notesMaster" Target="/ppt/notesMasters/notesMaster1.xml" Id="Rd7165aadb72449fc" /><Relationship Type="http://schemas.openxmlformats.org/officeDocument/2006/relationships/presProps" Target="/ppt/presProps.xml" Id="Rbcc95914249f456d" /><Relationship Type="http://schemas.openxmlformats.org/officeDocument/2006/relationships/tableStyles" Target="/ppt/tableStyles.xml" Id="R802f8488b71449c9" /><Relationship Type="http://schemas.openxmlformats.org/officeDocument/2006/relationships/slide" Target="/ppt/slides/slide1.xml" Id="R8fe2e5e1c0f44aa1" /><Relationship Type="http://schemas.openxmlformats.org/officeDocument/2006/relationships/slide" Target="/ppt/slides/slide2.xml" Id="Re27c26785d6c4f99" /><Relationship Type="http://schemas.openxmlformats.org/officeDocument/2006/relationships/slide" Target="/ppt/slides/slide3.xml" Id="R6cd4eeafd3bd42d2" /><Relationship Type="http://schemas.openxmlformats.org/officeDocument/2006/relationships/slide" Target="/ppt/slides/slide4.xml" Id="R6f6b42ad39334923" /><Relationship Type="http://schemas.openxmlformats.org/officeDocument/2006/relationships/slide" Target="/ppt/slides/slide5.xml" Id="Rb174c5cc53454760" /><Relationship Type="http://schemas.openxmlformats.org/officeDocument/2006/relationships/slide" Target="/ppt/slides/slide6.xml" Id="R24ab20935f484891" /><Relationship Type="http://schemas.openxmlformats.org/officeDocument/2006/relationships/slide" Target="/ppt/slides/slide7.xml" Id="Rc31c9ebaa3de4543" /><Relationship Type="http://schemas.openxmlformats.org/officeDocument/2006/relationships/slide" Target="/ppt/slides/slide8.xml" Id="Ra7a48fad89404b53" /><Relationship Type="http://schemas.openxmlformats.org/officeDocument/2006/relationships/slide" Target="/ppt/slides/slide9.xml" Id="R6d28ce1ad6e44a08" /><Relationship Type="http://schemas.openxmlformats.org/officeDocument/2006/relationships/slide" Target="/ppt/slides/slide10.xml" Id="R423480304f0e4f38" /><Relationship Type="http://schemas.openxmlformats.org/officeDocument/2006/relationships/slide" Target="/ppt/slides/slide11.xml" Id="Rff627ed97a7f41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514085809947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2c2bb75ee04191" /><Relationship Type="http://schemas.openxmlformats.org/officeDocument/2006/relationships/notesMaster" Target="/ppt/notesMasters/notesMaster1.xml" Id="R343ad289d15646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c3dda97f04412a" /><Relationship Type="http://schemas.openxmlformats.org/officeDocument/2006/relationships/notesMaster" Target="/ppt/notesMasters/notesMaster1.xml" Id="Rde23dd901ed74c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f7bb77e6164fb5" /><Relationship Type="http://schemas.openxmlformats.org/officeDocument/2006/relationships/notesMaster" Target="/ppt/notesMasters/notesMaster1.xml" Id="R673d2765045047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391d3bad144e64" /><Relationship Type="http://schemas.openxmlformats.org/officeDocument/2006/relationships/notesMaster" Target="/ppt/notesMasters/notesMaster1.xml" Id="R9c0e0c2045db41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dd363088be4954" /><Relationship Type="http://schemas.openxmlformats.org/officeDocument/2006/relationships/notesMaster" Target="/ppt/notesMasters/notesMaster1.xml" Id="R511f740e01e84d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c1f64f679f4ee3" /><Relationship Type="http://schemas.openxmlformats.org/officeDocument/2006/relationships/notesMaster" Target="/ppt/notesMasters/notesMaster1.xml" Id="R055d1be7f3ce44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30d563c29e4f98" /><Relationship Type="http://schemas.openxmlformats.org/officeDocument/2006/relationships/notesMaster" Target="/ppt/notesMasters/notesMaster1.xml" Id="R8114c4b73b714f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cc6e507cae461d" /><Relationship Type="http://schemas.openxmlformats.org/officeDocument/2006/relationships/notesMaster" Target="/ppt/notesMasters/notesMaster1.xml" Id="Rff31f8794e0f4a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70aacbbdd04548" /><Relationship Type="http://schemas.openxmlformats.org/officeDocument/2006/relationships/notesMaster" Target="/ppt/notesMasters/notesMaster1.xml" Id="R96689452849e46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ddf880314c4f2c" /><Relationship Type="http://schemas.openxmlformats.org/officeDocument/2006/relationships/notesMaster" Target="/ppt/notesMasters/notesMaster1.xml" Id="Rc5a20c92fc5a40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bf837ecc19433c" /><Relationship Type="http://schemas.openxmlformats.org/officeDocument/2006/relationships/notesMaster" Target="/ppt/notesMasters/notesMaster1.xml" Id="Rd38f9c63c18d4e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705d6db1a849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06ba636b9e47dc" /><Relationship Type="http://schemas.openxmlformats.org/officeDocument/2006/relationships/slideLayout" Target="/ppt/slideLayouts/slideLayout1.xml" Id="R5953babe88b646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53babe88b646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09e2bd80e4c19" /><Relationship Type="http://schemas.openxmlformats.org/officeDocument/2006/relationships/notesSlide" Target="/ppt/notesSlides/notesSlide1.xml" Id="Rcdb635f56bf147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4578868ae426b" /><Relationship Type="http://schemas.openxmlformats.org/officeDocument/2006/relationships/notesSlide" Target="/ppt/notesSlides/notesSlide2.xml" Id="R38ae2f6372f34a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e646cf5094b98" /><Relationship Type="http://schemas.openxmlformats.org/officeDocument/2006/relationships/notesSlide" Target="/ppt/notesSlides/notesSlide3.xml" Id="R8e5057d21d4345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a3ea17fd4485c" /><Relationship Type="http://schemas.openxmlformats.org/officeDocument/2006/relationships/notesSlide" Target="/ppt/notesSlides/notesSlide4.xml" Id="Rc27d94516be543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f6529deeb44e2" /><Relationship Type="http://schemas.openxmlformats.org/officeDocument/2006/relationships/notesSlide" Target="/ppt/notesSlides/notesSlide5.xml" Id="Re5ee264dae4a40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88434ea2641cb" /><Relationship Type="http://schemas.openxmlformats.org/officeDocument/2006/relationships/notesSlide" Target="/ppt/notesSlides/notesSlide6.xml" Id="Rc6f76b8a53fa48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c32f0f75a402f" /><Relationship Type="http://schemas.openxmlformats.org/officeDocument/2006/relationships/notesSlide" Target="/ppt/notesSlides/notesSlide7.xml" Id="Rf76f8c9edda943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05173bd064f0f" /><Relationship Type="http://schemas.openxmlformats.org/officeDocument/2006/relationships/notesSlide" Target="/ppt/notesSlides/notesSlide8.xml" Id="R0636821d8d5343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0b77a86024221" /><Relationship Type="http://schemas.openxmlformats.org/officeDocument/2006/relationships/notesSlide" Target="/ppt/notesSlides/notesSlide9.xml" Id="R683c8c4e55ad42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92eaa0419492b" /><Relationship Type="http://schemas.openxmlformats.org/officeDocument/2006/relationships/notesSlide" Target="/ppt/notesSlides/notesSlide10.xml" Id="Rd038992a3e7640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1546e267342f3" /><Relationship Type="http://schemas.openxmlformats.org/officeDocument/2006/relationships/notesSlide" Target="/ppt/notesSlides/notesSlide11.xml" Id="R634a15ba668e4a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block">
            <a:extLst xmlns:a="http://schemas.openxmlformats.org/drawingml/2006/main">
              <a:ext uri="{FF2B5EF4-FFF2-40B4-BE49-F238E27FC236}">
                <a16:creationId xmlns:a16="http://schemas.microsoft.com/office/drawing/2014/main" id="{C8F36E70-4F9F-4594-AF69-8379A8B5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accent-green">
            <a:extLst xmlns:a="http://schemas.openxmlformats.org/drawingml/2006/main">
              <a:ext uri="{FF2B5EF4-FFF2-40B4-BE49-F238E27FC236}">
                <a16:creationId xmlns:a16="http://schemas.microsoft.com/office/drawing/2014/main" id="{E368BAD8-B382-4C13-A34B-3F5B9792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accent-clay">
            <a:extLst xmlns:a="http://schemas.openxmlformats.org/drawingml/2006/main">
              <a:ext uri="{FF2B5EF4-FFF2-40B4-BE49-F238E27FC236}">
                <a16:creationId xmlns:a16="http://schemas.microsoft.com/office/drawing/2014/main" id="{305E6608-7425-4E7F-8B07-12D2C74D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76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E8FE230-C486-4F1B-8B9F-FEC3C173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7239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51515"/>
                </a:solidFill>
              </a:defRPr>
            </a:pPr>
            <a:r>
              <a:rPr sz="4800" b="1">
                <a:solidFill>
                  <a:srgbClr val="151515"/>
                </a:solidFill>
              </a:rPr>
              <a:t>PHYLLOS DPP Integrado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D94E2CE-7460-4AD8-B657-79ECF71D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E625D"/>
                </a:solidFill>
              </a:defRPr>
            </a:pPr>
            <a:r>
              <a:rPr sz="2100" b="0">
                <a:solidFill>
                  <a:srgbClr val="5E625D"/>
                </a:solidFill>
              </a:rPr>
              <a:t>Roadmap e cronograma interno</a:t>
            </a:r>
          </a:p>
        </p:txBody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E30D0A67-C4DC-4E42-AEB5-A74AEB58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25D"/>
                </a:solidFill>
              </a:defRPr>
            </a:pPr>
            <a:r>
              <a:rPr sz="1275" b="0">
                <a:solidFill>
                  <a:srgbClr val="5E625D"/>
                </a:solidFill>
              </a:rPr>
              <a:t>DPP middleware para moda | tecnologia interna com Codex, Claude e agentes PHYLLOS | 25 jun. 2026</a:t>
            </a:r>
          </a:p>
        </p:txBody>
      </p:sp>
      <p:sp>
        <p:nvSpPr>
          <p:cNvPr id="7" name="cover-flow-0">
            <a:extLst xmlns:a="http://schemas.openxmlformats.org/drawingml/2006/main">
              <a:ext uri="{FF2B5EF4-FFF2-40B4-BE49-F238E27FC236}">
                <a16:creationId xmlns:a16="http://schemas.microsoft.com/office/drawing/2014/main" id="{33FFAEAA-3975-42BB-A0B6-0D594436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85900"/>
            <a:ext cx="3257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8" name="cover-flow-mark-0">
            <a:extLst xmlns:a="http://schemas.openxmlformats.org/drawingml/2006/main">
              <a:ext uri="{FF2B5EF4-FFF2-40B4-BE49-F238E27FC236}">
                <a16:creationId xmlns:a16="http://schemas.microsoft.com/office/drawing/2014/main" id="{745E1777-3016-4983-9B08-3745BCAF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6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flow-label-0">
            <a:extLst xmlns:a="http://schemas.openxmlformats.org/drawingml/2006/main">
              <a:ext uri="{FF2B5EF4-FFF2-40B4-BE49-F238E27FC236}">
                <a16:creationId xmlns:a16="http://schemas.microsoft.com/office/drawing/2014/main" id="{841C9C55-B7DE-49E5-9FEC-65C40A87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57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515"/>
                </a:solidFill>
              </a:defRPr>
            </a:pPr>
            <a:r>
              <a:rPr sz="1650" b="1">
                <a:solidFill>
                  <a:srgbClr val="151515"/>
                </a:solidFill>
              </a:rPr>
              <a:t>Arquivo técnico</a:t>
            </a:r>
          </a:p>
        </p:txBody>
      </p:sp>
      <p:sp>
        <p:nvSpPr>
          <p:cNvPr id="10" name="cover-arrow-0">
            <a:extLst xmlns:a="http://schemas.openxmlformats.org/drawingml/2006/main">
              <a:ext uri="{FF2B5EF4-FFF2-40B4-BE49-F238E27FC236}">
                <a16:creationId xmlns:a16="http://schemas.microsoft.com/office/drawing/2014/main" id="{AB247D56-D79F-4B78-9CDE-7530FBCC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764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E625D"/>
                </a:solidFill>
              </a:defRPr>
            </a:pPr>
            <a:r>
              <a:rPr sz="1650" b="1">
                <a:solidFill>
                  <a:srgbClr val="5E625D"/>
                </a:solidFill>
              </a:rPr>
              <a:t>↓</a:t>
            </a:r>
          </a:p>
        </p:txBody>
      </p:sp>
      <p:sp>
        <p:nvSpPr>
          <p:cNvPr id="11" name="cover-flow-1">
            <a:extLst xmlns:a="http://schemas.openxmlformats.org/drawingml/2006/main">
              <a:ext uri="{FF2B5EF4-FFF2-40B4-BE49-F238E27FC236}">
                <a16:creationId xmlns:a16="http://schemas.microsoft.com/office/drawing/2014/main" id="{C48BEC69-D86A-445D-94E2-7841EBB6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257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12" name="cover-flow-mark-1">
            <a:extLst xmlns:a="http://schemas.openxmlformats.org/drawingml/2006/main">
              <a:ext uri="{FF2B5EF4-FFF2-40B4-BE49-F238E27FC236}">
                <a16:creationId xmlns:a16="http://schemas.microsoft.com/office/drawing/2014/main" id="{ACD2811D-5574-4D19-9D83-1FC1D293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62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ver-flow-label-1">
            <a:extLst xmlns:a="http://schemas.openxmlformats.org/drawingml/2006/main">
              <a:ext uri="{FF2B5EF4-FFF2-40B4-BE49-F238E27FC236}">
                <a16:creationId xmlns:a16="http://schemas.microsoft.com/office/drawing/2014/main" id="{F7CE4B1B-0C77-49FD-830D-A23DF49F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52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515"/>
                </a:solidFill>
              </a:defRPr>
            </a:pPr>
            <a:r>
              <a:rPr sz="1650" b="1">
                <a:solidFill>
                  <a:srgbClr val="151515"/>
                </a:solidFill>
              </a:rPr>
              <a:t>Produto + material</a:t>
            </a:r>
          </a:p>
        </p:txBody>
      </p:sp>
      <p:sp>
        <p:nvSpPr>
          <p:cNvPr id="14" name="cover-arrow-1">
            <a:extLst xmlns:a="http://schemas.openxmlformats.org/drawingml/2006/main">
              <a:ext uri="{FF2B5EF4-FFF2-40B4-BE49-F238E27FC236}">
                <a16:creationId xmlns:a16="http://schemas.microsoft.com/office/drawing/2014/main" id="{1845BE30-1C20-4736-8489-44DBD411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71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E625D"/>
                </a:solidFill>
              </a:defRPr>
            </a:pPr>
            <a:r>
              <a:rPr sz="1650" b="1">
                <a:solidFill>
                  <a:srgbClr val="5E625D"/>
                </a:solidFill>
              </a:rPr>
              <a:t>↓</a:t>
            </a:r>
          </a:p>
        </p:txBody>
      </p:sp>
      <p:sp>
        <p:nvSpPr>
          <p:cNvPr id="15" name="cover-flow-2">
            <a:extLst xmlns:a="http://schemas.openxmlformats.org/drawingml/2006/main">
              <a:ext uri="{FF2B5EF4-FFF2-40B4-BE49-F238E27FC236}">
                <a16:creationId xmlns:a16="http://schemas.microsoft.com/office/drawing/2014/main" id="{913C6BD8-A3F1-4097-8546-E4139457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76600"/>
            <a:ext cx="3257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16" name="cover-flow-mark-2">
            <a:extLst xmlns:a="http://schemas.openxmlformats.org/drawingml/2006/main">
              <a:ext uri="{FF2B5EF4-FFF2-40B4-BE49-F238E27FC236}">
                <a16:creationId xmlns:a16="http://schemas.microsoft.com/office/drawing/2014/main" id="{E196159F-4072-4FC7-AD15-F21FA551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575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ver-flow-label-2">
            <a:extLst xmlns:a="http://schemas.openxmlformats.org/drawingml/2006/main">
              <a:ext uri="{FF2B5EF4-FFF2-40B4-BE49-F238E27FC236}">
                <a16:creationId xmlns:a16="http://schemas.microsoft.com/office/drawing/2014/main" id="{1E0805F3-44F4-4F88-BD05-6A729572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48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515"/>
                </a:solidFill>
              </a:defRPr>
            </a:pPr>
            <a:r>
              <a:rPr sz="1650" b="1">
                <a:solidFill>
                  <a:srgbClr val="151515"/>
                </a:solidFill>
              </a:rPr>
              <a:t>Cálculo por peça</a:t>
            </a:r>
          </a:p>
        </p:txBody>
      </p:sp>
      <p:sp>
        <p:nvSpPr>
          <p:cNvPr id="18" name="cover-arrow-2">
            <a:extLst xmlns:a="http://schemas.openxmlformats.org/drawingml/2006/main">
              <a:ext uri="{FF2B5EF4-FFF2-40B4-BE49-F238E27FC236}">
                <a16:creationId xmlns:a16="http://schemas.microsoft.com/office/drawing/2014/main" id="{0250FFE8-73C7-43D2-986D-7FBCFACE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671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E625D"/>
                </a:solidFill>
              </a:defRPr>
            </a:pPr>
            <a:r>
              <a:rPr sz="1650" b="1">
                <a:solidFill>
                  <a:srgbClr val="5E625D"/>
                </a:solidFill>
              </a:rPr>
              <a:t>↓</a:t>
            </a:r>
          </a:p>
        </p:txBody>
      </p:sp>
      <p:sp>
        <p:nvSpPr>
          <p:cNvPr id="19" name="cover-flow-3">
            <a:extLst xmlns:a="http://schemas.openxmlformats.org/drawingml/2006/main">
              <a:ext uri="{FF2B5EF4-FFF2-40B4-BE49-F238E27FC236}">
                <a16:creationId xmlns:a16="http://schemas.microsoft.com/office/drawing/2014/main" id="{8DEC450D-57A2-46D7-95D1-138D7D25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71950"/>
            <a:ext cx="3257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20" name="cover-flow-mark-3">
            <a:extLst xmlns:a="http://schemas.openxmlformats.org/drawingml/2006/main">
              <a:ext uri="{FF2B5EF4-FFF2-40B4-BE49-F238E27FC236}">
                <a16:creationId xmlns:a16="http://schemas.microsoft.com/office/drawing/2014/main" id="{BC2EBC85-FD9F-4D0D-AEBA-0826B28B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529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ver-flow-label-3">
            <a:extLst xmlns:a="http://schemas.openxmlformats.org/drawingml/2006/main">
              <a:ext uri="{FF2B5EF4-FFF2-40B4-BE49-F238E27FC236}">
                <a16:creationId xmlns:a16="http://schemas.microsoft.com/office/drawing/2014/main" id="{ED28FEDF-7E6B-4587-95A3-41D22D3E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434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515"/>
                </a:solidFill>
              </a:defRPr>
            </a:pPr>
            <a:r>
              <a:rPr sz="1650" b="1">
                <a:solidFill>
                  <a:srgbClr val="151515"/>
                </a:solidFill>
              </a:rPr>
              <a:t>QR + flashcards</a:t>
            </a:r>
          </a:p>
        </p:txBody>
      </p:sp>
      <p:sp>
        <p:nvSpPr>
          <p:cNvPr id="22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EE7B90F-EB64-40B4-8537-D7A8D0D4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D157E0A2-4BFE-42A2-AA0E-7948E96C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25D"/>
                </a:solidFill>
              </a:defRPr>
            </a:pPr>
            <a:r>
              <a:rPr sz="900" b="1">
                <a:solidFill>
                  <a:srgbClr val="5E625D"/>
                </a:solidFill>
              </a:rPr>
              <a:t>PHYLLOS DPP Integrado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7EB4D0A-1079-41D5-967E-03FFB7B9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25D"/>
                </a:solidFill>
              </a:defRPr>
            </a:pPr>
            <a:r>
              <a:rPr sz="1050" b="1">
                <a:solidFill>
                  <a:srgbClr val="5E625D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870818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F45A3AE4-0443-4EE2-ACC4-081C2B6F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A4F"/>
                </a:solidFill>
              </a:defRPr>
            </a:pPr>
            <a:r>
              <a:rPr sz="1050" b="1">
                <a:solidFill>
                  <a:srgbClr val="2D6A4F"/>
                </a:solidFill>
              </a:rPr>
              <a:t>PRODUTO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3B3CEA-4955-45C8-90C3-BE7A252C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1515"/>
                </a:solidFill>
              </a:defRPr>
            </a:pPr>
            <a:r>
              <a:rPr sz="3150" b="1">
                <a:solidFill>
                  <a:srgbClr val="151515"/>
                </a:solidFill>
              </a:rPr>
              <a:t>A decisão executiva</a:t>
            </a:r>
          </a:p>
        </p:txBody>
      </p:sp>
      <p:sp>
        <p:nvSpPr>
          <p:cNvPr id="3" name="decision-hero">
            <a:extLst xmlns:a="http://schemas.openxmlformats.org/drawingml/2006/main">
              <a:ext uri="{FF2B5EF4-FFF2-40B4-BE49-F238E27FC236}">
                <a16:creationId xmlns:a16="http://schemas.microsoft.com/office/drawing/2014/main" id="{BC8BFFC5-C3C5-4F2A-ABEE-82F0D691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66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</a:defRPr>
            </a:pPr>
            <a:r>
              <a:rPr sz="2550" b="1">
                <a:solidFill>
                  <a:srgbClr val="151515"/>
                </a:solidFill>
              </a:rPr>
              <a:t>A V1 não edita molde. A V1 transforma dados técnicos existentes em DPP publicável.</a:t>
            </a:r>
          </a:p>
        </p:txBody>
      </p:sp>
      <p:sp>
        <p:nvSpPr>
          <p:cNvPr id="4" name="cut-now-panel">
            <a:extLst xmlns:a="http://schemas.openxmlformats.org/drawingml/2006/main">
              <a:ext uri="{FF2B5EF4-FFF2-40B4-BE49-F238E27FC236}">
                <a16:creationId xmlns:a16="http://schemas.microsoft.com/office/drawing/2014/main" id="{D23DBE4D-C0A7-404B-8596-E8C9703D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5238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ut-now-mark">
            <a:extLst xmlns:a="http://schemas.openxmlformats.org/drawingml/2006/main">
              <a:ext uri="{FF2B5EF4-FFF2-40B4-BE49-F238E27FC236}">
                <a16:creationId xmlns:a16="http://schemas.microsoft.com/office/drawing/2014/main" id="{2FAC64B0-0A83-4766-97F1-C1E3DD26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4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ut-now-title">
            <a:extLst xmlns:a="http://schemas.openxmlformats.org/drawingml/2006/main">
              <a:ext uri="{FF2B5EF4-FFF2-40B4-BE49-F238E27FC236}">
                <a16:creationId xmlns:a16="http://schemas.microsoft.com/office/drawing/2014/main" id="{C1D40B5D-66C0-47D7-B2F9-1E91380D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0473B"/>
                </a:solidFill>
              </a:defRPr>
            </a:pPr>
            <a:r>
              <a:rPr sz="1650" b="1">
                <a:solidFill>
                  <a:srgbClr val="A0473B"/>
                </a:solidFill>
              </a:rPr>
              <a:t>Cortar agora</a:t>
            </a:r>
          </a:p>
        </p:txBody>
      </p:sp>
      <p:sp>
        <p:nvSpPr>
          <p:cNvPr id="7" name="cut-now-body">
            <a:extLst xmlns:a="http://schemas.openxmlformats.org/drawingml/2006/main">
              <a:ext uri="{FF2B5EF4-FFF2-40B4-BE49-F238E27FC236}">
                <a16:creationId xmlns:a16="http://schemas.microsoft.com/office/drawing/2014/main" id="{9A8971FC-7878-49C6-8747-9383E02E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4781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</a:defRPr>
            </a:pPr>
            <a:r>
              <a:rPr sz="1500" b="0">
                <a:solidFill>
                  <a:srgbClr val="151515"/>
                </a:solidFill>
              </a:rPr>
              <a:t>Motor de moldes, CAD próprio, edição de desenho e parser universal de DXF/AAMA/ASTM. Esses itens aumentam risco, prazo e necessidade de especialista externo.</a:t>
            </a:r>
          </a:p>
        </p:txBody>
      </p:sp>
      <p:sp>
        <p:nvSpPr>
          <p:cNvPr id="8" name="focus-now-panel">
            <a:extLst xmlns:a="http://schemas.openxmlformats.org/drawingml/2006/main">
              <a:ext uri="{FF2B5EF4-FFF2-40B4-BE49-F238E27FC236}">
                <a16:creationId xmlns:a16="http://schemas.microsoft.com/office/drawing/2014/main" id="{D373A64D-9BB6-4B33-A559-A8AFF8BD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1300"/>
            <a:ext cx="5238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cus-now-mark">
            <a:extLst xmlns:a="http://schemas.openxmlformats.org/drawingml/2006/main">
              <a:ext uri="{FF2B5EF4-FFF2-40B4-BE49-F238E27FC236}">
                <a16:creationId xmlns:a16="http://schemas.microsoft.com/office/drawing/2014/main" id="{5CE743C0-20BC-4ABC-92EE-03AF15DC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9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cus-now-title">
            <a:extLst xmlns:a="http://schemas.openxmlformats.org/drawingml/2006/main">
              <a:ext uri="{FF2B5EF4-FFF2-40B4-BE49-F238E27FC236}">
                <a16:creationId xmlns:a16="http://schemas.microsoft.com/office/drawing/2014/main" id="{353B70F3-4E13-46CB-81A2-5D1C7CE2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527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6A4F"/>
                </a:solidFill>
              </a:defRPr>
            </a:pPr>
            <a:r>
              <a:rPr sz="1650" b="1">
                <a:solidFill>
                  <a:srgbClr val="2D6A4F"/>
                </a:solidFill>
              </a:rPr>
              <a:t>Concentrar agora</a:t>
            </a:r>
          </a:p>
        </p:txBody>
      </p:sp>
      <p:sp>
        <p:nvSpPr>
          <p:cNvPr id="11" name="focus-now-body">
            <a:extLst xmlns:a="http://schemas.openxmlformats.org/drawingml/2006/main">
              <a:ext uri="{FF2B5EF4-FFF2-40B4-BE49-F238E27FC236}">
                <a16:creationId xmlns:a16="http://schemas.microsoft.com/office/drawing/2014/main" id="{370F9647-ABB2-442B-87BA-8EA2A1DF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29000"/>
            <a:ext cx="4781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</a:defRPr>
            </a:pPr>
            <a:r>
              <a:rPr sz="1500" b="0">
                <a:solidFill>
                  <a:srgbClr val="151515"/>
                </a:solidFill>
              </a:rPr>
              <a:t>Upload/input técnico, cadastro de produto e material, cálculo de área/perda, indicadores, estados de evidência, QR e flashcards para consumidor.</a:t>
            </a:r>
          </a:p>
        </p:txBody>
      </p:sp>
      <p:sp>
        <p:nvSpPr>
          <p:cNvPr id="12" name="decision-why">
            <a:extLst xmlns:a="http://schemas.openxmlformats.org/drawingml/2006/main">
              <a:ext uri="{FF2B5EF4-FFF2-40B4-BE49-F238E27FC236}">
                <a16:creationId xmlns:a16="http://schemas.microsoft.com/office/drawing/2014/main" id="{211B3B0B-412B-4C95-8201-1661842A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25D"/>
                </a:solidFill>
              </a:defRPr>
            </a:pPr>
            <a:r>
              <a:rPr sz="1575" b="0">
                <a:solidFill>
                  <a:srgbClr val="5E625D"/>
                </a:solidFill>
              </a:rPr>
              <a:t>Por quê: é a fatia que pode ser construída internamente, validada em pilotos e vendida sem prometer conformidade ambiental automática.</a:t>
            </a:r>
          </a:p>
        </p:txBody>
      </p:sp>
      <p:sp>
        <p:nvSpPr>
          <p:cNvPr id="1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9EA54ECE-0AC8-47AB-901C-A68F5A32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DD3279B-A4DC-4271-8AA9-E9CD58E7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25D"/>
                </a:solidFill>
              </a:defRPr>
            </a:pPr>
            <a:r>
              <a:rPr sz="900" b="1">
                <a:solidFill>
                  <a:srgbClr val="5E625D"/>
                </a:solidFill>
              </a:rPr>
              <a:t>PHYLLOS DPP Integrado</a:t>
            </a:r>
          </a:p>
        </p:txBody>
      </p:sp>
      <p:sp>
        <p:nvSpPr>
          <p:cNvPr id="1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311C826-7D37-46F2-ABF3-3B67C631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25D"/>
                </a:solidFill>
              </a:defRPr>
            </a:pPr>
            <a:r>
              <a:rPr sz="1050" b="1">
                <a:solidFill>
                  <a:srgbClr val="5E625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44288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CC4FB3A5-337D-4CF1-8975-C4AA825E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A4F"/>
                </a:solidFill>
              </a:defRPr>
            </a:pPr>
            <a:r>
              <a:rPr sz="1050" b="1">
                <a:solidFill>
                  <a:srgbClr val="2D6A4F"/>
                </a:solidFill>
              </a:rPr>
              <a:t>NARRATIVA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69C63E-28FC-44AB-85DD-C7881D69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1515"/>
                </a:solidFill>
              </a:defRPr>
            </a:pPr>
            <a:r>
              <a:rPr sz="3150" b="1">
                <a:solidFill>
                  <a:srgbClr val="151515"/>
                </a:solidFill>
              </a:rPr>
              <a:t>Tese de produto</a:t>
            </a:r>
          </a:p>
        </p:txBody>
      </p:sp>
      <p:sp>
        <p:nvSpPr>
          <p:cNvPr id="3" name="thesis-lede">
            <a:extLst xmlns:a="http://schemas.openxmlformats.org/drawingml/2006/main">
              <a:ext uri="{FF2B5EF4-FFF2-40B4-BE49-F238E27FC236}">
                <a16:creationId xmlns:a16="http://schemas.microsoft.com/office/drawing/2014/main" id="{2DF02EBE-CCB5-40A1-AC2F-83876B3D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515"/>
                </a:solidFill>
              </a:defRPr>
            </a:pPr>
            <a:r>
              <a:rPr sz="2100" b="1">
                <a:solidFill>
                  <a:srgbClr val="151515"/>
                </a:solidFill>
              </a:rPr>
              <a:t>PHYLLOS é uma camada de tradução entre modelagem, ficha técnica, matéria-prima e consumidor.</a:t>
            </a:r>
          </a:p>
        </p:txBody>
      </p:sp>
      <p:sp>
        <p:nvSpPr>
          <p:cNvPr id="4" name="thesis-step-0">
            <a:extLst xmlns:a="http://schemas.openxmlformats.org/drawingml/2006/main">
              <a:ext uri="{FF2B5EF4-FFF2-40B4-BE49-F238E27FC236}">
                <a16:creationId xmlns:a16="http://schemas.microsoft.com/office/drawing/2014/main" id="{C13934A3-EFB2-405B-910E-B7903E30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1924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5" name="thesis-step-num-0">
            <a:extLst xmlns:a="http://schemas.openxmlformats.org/drawingml/2006/main">
              <a:ext uri="{FF2B5EF4-FFF2-40B4-BE49-F238E27FC236}">
                <a16:creationId xmlns:a16="http://schemas.microsoft.com/office/drawing/2014/main" id="{C18463CE-E05B-4320-9D00-77112B87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hesis-step-num-text-0">
            <a:extLst xmlns:a="http://schemas.openxmlformats.org/drawingml/2006/main">
              <a:ext uri="{FF2B5EF4-FFF2-40B4-BE49-F238E27FC236}">
                <a16:creationId xmlns:a16="http://schemas.microsoft.com/office/drawing/2014/main" id="{1916827E-98F2-42BC-BF57-3DCD7918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hesis-step-label-0">
            <a:extLst xmlns:a="http://schemas.openxmlformats.org/drawingml/2006/main">
              <a:ext uri="{FF2B5EF4-FFF2-40B4-BE49-F238E27FC236}">
                <a16:creationId xmlns:a16="http://schemas.microsoft.com/office/drawing/2014/main" id="{EAE23A4C-9F0F-4B35-990E-90D0CC0C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1581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Arquivo técnico / ficha / planilha</a:t>
            </a:r>
          </a:p>
        </p:txBody>
      </p:sp>
      <p:sp>
        <p:nvSpPr>
          <p:cNvPr id="8" name="thesis-arrow-0">
            <a:extLst xmlns:a="http://schemas.openxmlformats.org/drawingml/2006/main">
              <a:ext uri="{FF2B5EF4-FFF2-40B4-BE49-F238E27FC236}">
                <a16:creationId xmlns:a16="http://schemas.microsoft.com/office/drawing/2014/main" id="{AD9DDF06-535D-4FB5-9368-73D24796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908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E625D"/>
                </a:solidFill>
              </a:defRPr>
            </a:pPr>
            <a:r>
              <a:rPr sz="2250" b="1">
                <a:solidFill>
                  <a:srgbClr val="5E625D"/>
                </a:solidFill>
              </a:rPr>
              <a:t>→</a:t>
            </a:r>
          </a:p>
        </p:txBody>
      </p:sp>
      <p:sp>
        <p:nvSpPr>
          <p:cNvPr id="9" name="thesis-step-1">
            <a:extLst xmlns:a="http://schemas.openxmlformats.org/drawingml/2006/main">
              <a:ext uri="{FF2B5EF4-FFF2-40B4-BE49-F238E27FC236}">
                <a16:creationId xmlns:a16="http://schemas.microsoft.com/office/drawing/2014/main" id="{06F9BE9B-4FFE-485A-B7B9-F6234AE0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33650"/>
            <a:ext cx="1924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10" name="thesis-step-num-1">
            <a:extLst xmlns:a="http://schemas.openxmlformats.org/drawingml/2006/main">
              <a:ext uri="{FF2B5EF4-FFF2-40B4-BE49-F238E27FC236}">
                <a16:creationId xmlns:a16="http://schemas.microsoft.com/office/drawing/2014/main" id="{8B6F0387-638F-446C-9309-62B2C829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24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hesis-step-num-text-1">
            <a:extLst xmlns:a="http://schemas.openxmlformats.org/drawingml/2006/main">
              <a:ext uri="{FF2B5EF4-FFF2-40B4-BE49-F238E27FC236}">
                <a16:creationId xmlns:a16="http://schemas.microsoft.com/office/drawing/2014/main" id="{2381CD19-FEAF-4412-B33D-7E55BFA2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hesis-step-label-1">
            <a:extLst xmlns:a="http://schemas.openxmlformats.org/drawingml/2006/main">
              <a:ext uri="{FF2B5EF4-FFF2-40B4-BE49-F238E27FC236}">
                <a16:creationId xmlns:a16="http://schemas.microsoft.com/office/drawing/2014/main" id="{72BD7993-9138-4B4B-87FA-9F9818F8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52800"/>
            <a:ext cx="1581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Produto + matéria-prima + lote</a:t>
            </a:r>
          </a:p>
        </p:txBody>
      </p:sp>
      <p:sp>
        <p:nvSpPr>
          <p:cNvPr id="13" name="thesis-arrow-1">
            <a:extLst xmlns:a="http://schemas.openxmlformats.org/drawingml/2006/main">
              <a:ext uri="{FF2B5EF4-FFF2-40B4-BE49-F238E27FC236}">
                <a16:creationId xmlns:a16="http://schemas.microsoft.com/office/drawing/2014/main" id="{F186260A-682F-4B16-9CCE-53FD4BB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908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E625D"/>
                </a:solidFill>
              </a:defRPr>
            </a:pPr>
            <a:r>
              <a:rPr sz="2250" b="1">
                <a:solidFill>
                  <a:srgbClr val="5E625D"/>
                </a:solidFill>
              </a:rPr>
              <a:t>→</a:t>
            </a:r>
          </a:p>
        </p:txBody>
      </p:sp>
      <p:sp>
        <p:nvSpPr>
          <p:cNvPr id="14" name="thesis-step-2">
            <a:extLst xmlns:a="http://schemas.openxmlformats.org/drawingml/2006/main">
              <a:ext uri="{FF2B5EF4-FFF2-40B4-BE49-F238E27FC236}">
                <a16:creationId xmlns:a16="http://schemas.microsoft.com/office/drawing/2014/main" id="{6A06F710-9495-478C-87F5-D18435B7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33650"/>
            <a:ext cx="1924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15" name="thesis-step-num-2">
            <a:extLst xmlns:a="http://schemas.openxmlformats.org/drawingml/2006/main">
              <a:ext uri="{FF2B5EF4-FFF2-40B4-BE49-F238E27FC236}">
                <a16:creationId xmlns:a16="http://schemas.microsoft.com/office/drawing/2014/main" id="{ED7468ED-5552-476A-B1D7-A4CE3BBA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hesis-step-num-text-2">
            <a:extLst xmlns:a="http://schemas.openxmlformats.org/drawingml/2006/main">
              <a:ext uri="{FF2B5EF4-FFF2-40B4-BE49-F238E27FC236}">
                <a16:creationId xmlns:a16="http://schemas.microsoft.com/office/drawing/2014/main" id="{4917F282-6523-454E-A612-B5177282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hesis-step-label-2">
            <a:extLst xmlns:a="http://schemas.openxmlformats.org/drawingml/2006/main">
              <a:ext uri="{FF2B5EF4-FFF2-40B4-BE49-F238E27FC236}">
                <a16:creationId xmlns:a16="http://schemas.microsoft.com/office/drawing/2014/main" id="{4E102EB7-BCCA-414F-A0F4-047FA988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52800"/>
            <a:ext cx="1581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Área, consumo e perda</a:t>
            </a:r>
          </a:p>
        </p:txBody>
      </p:sp>
      <p:sp>
        <p:nvSpPr>
          <p:cNvPr id="18" name="thesis-arrow-2">
            <a:extLst xmlns:a="http://schemas.openxmlformats.org/drawingml/2006/main">
              <a:ext uri="{FF2B5EF4-FFF2-40B4-BE49-F238E27FC236}">
                <a16:creationId xmlns:a16="http://schemas.microsoft.com/office/drawing/2014/main" id="{B88FDBB0-661F-4569-ABDF-40574F3D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908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E625D"/>
                </a:solidFill>
              </a:defRPr>
            </a:pPr>
            <a:r>
              <a:rPr sz="2250" b="1">
                <a:solidFill>
                  <a:srgbClr val="5E625D"/>
                </a:solidFill>
              </a:rPr>
              <a:t>→</a:t>
            </a:r>
          </a:p>
        </p:txBody>
      </p:sp>
      <p:sp>
        <p:nvSpPr>
          <p:cNvPr id="19" name="thesis-step-3">
            <a:extLst xmlns:a="http://schemas.openxmlformats.org/drawingml/2006/main">
              <a:ext uri="{FF2B5EF4-FFF2-40B4-BE49-F238E27FC236}">
                <a16:creationId xmlns:a16="http://schemas.microsoft.com/office/drawing/2014/main" id="{AC17048A-835E-4F8C-98D0-7C3EC22A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33650"/>
            <a:ext cx="1924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20" name="thesis-step-num-3">
            <a:extLst xmlns:a="http://schemas.openxmlformats.org/drawingml/2006/main">
              <a:ext uri="{FF2B5EF4-FFF2-40B4-BE49-F238E27FC236}">
                <a16:creationId xmlns:a16="http://schemas.microsoft.com/office/drawing/2014/main" id="{2CDF1A96-9582-40FC-9D03-3E51E8BC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24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hesis-step-num-text-3">
            <a:extLst xmlns:a="http://schemas.openxmlformats.org/drawingml/2006/main">
              <a:ext uri="{FF2B5EF4-FFF2-40B4-BE49-F238E27FC236}">
                <a16:creationId xmlns:a16="http://schemas.microsoft.com/office/drawing/2014/main" id="{5B74A48A-F13A-45FC-8928-C053079C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hesis-step-label-3">
            <a:extLst xmlns:a="http://schemas.openxmlformats.org/drawingml/2006/main">
              <a:ext uri="{FF2B5EF4-FFF2-40B4-BE49-F238E27FC236}">
                <a16:creationId xmlns:a16="http://schemas.microsoft.com/office/drawing/2014/main" id="{39D5ED52-50EC-42CB-BEFC-AB34101A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52800"/>
            <a:ext cx="1581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Indicadores + evidência</a:t>
            </a:r>
          </a:p>
        </p:txBody>
      </p:sp>
      <p:sp>
        <p:nvSpPr>
          <p:cNvPr id="23" name="thesis-arrow-3">
            <a:extLst xmlns:a="http://schemas.openxmlformats.org/drawingml/2006/main">
              <a:ext uri="{FF2B5EF4-FFF2-40B4-BE49-F238E27FC236}">
                <a16:creationId xmlns:a16="http://schemas.microsoft.com/office/drawing/2014/main" id="{B4B3E5B2-F687-4CBA-AD74-1591B1A8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908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E625D"/>
                </a:solidFill>
              </a:defRPr>
            </a:pPr>
            <a:r>
              <a:rPr sz="2250" b="1">
                <a:solidFill>
                  <a:srgbClr val="5E625D"/>
                </a:solidFill>
              </a:rPr>
              <a:t>→</a:t>
            </a:r>
          </a:p>
        </p:txBody>
      </p:sp>
      <p:sp>
        <p:nvSpPr>
          <p:cNvPr id="24" name="thesis-step-4">
            <a:extLst xmlns:a="http://schemas.openxmlformats.org/drawingml/2006/main">
              <a:ext uri="{FF2B5EF4-FFF2-40B4-BE49-F238E27FC236}">
                <a16:creationId xmlns:a16="http://schemas.microsoft.com/office/drawing/2014/main" id="{AA60CB31-770C-44D0-A36E-8CE8B20B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33650"/>
            <a:ext cx="1924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25" name="thesis-step-num-4">
            <a:extLst xmlns:a="http://schemas.openxmlformats.org/drawingml/2006/main">
              <a:ext uri="{FF2B5EF4-FFF2-40B4-BE49-F238E27FC236}">
                <a16:creationId xmlns:a16="http://schemas.microsoft.com/office/drawing/2014/main" id="{1C1E5E84-3551-4534-A0E0-597D99BD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24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hesis-step-num-text-4">
            <a:extLst xmlns:a="http://schemas.openxmlformats.org/drawingml/2006/main">
              <a:ext uri="{FF2B5EF4-FFF2-40B4-BE49-F238E27FC236}">
                <a16:creationId xmlns:a16="http://schemas.microsoft.com/office/drawing/2014/main" id="{9D04FB89-CBF4-4E59-85AE-59EA80BD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hesis-step-label-4">
            <a:extLst xmlns:a="http://schemas.openxmlformats.org/drawingml/2006/main">
              <a:ext uri="{FF2B5EF4-FFF2-40B4-BE49-F238E27FC236}">
                <a16:creationId xmlns:a16="http://schemas.microsoft.com/office/drawing/2014/main" id="{99A0DF83-811D-4324-8B64-13B109C7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52800"/>
            <a:ext cx="1581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DPP, QR e flashcards</a:t>
            </a:r>
          </a:p>
        </p:txBody>
      </p:sp>
      <p:sp>
        <p:nvSpPr>
          <p:cNvPr id="28" name="thesis-quote-panel">
            <a:extLst xmlns:a="http://schemas.openxmlformats.org/drawingml/2006/main">
              <a:ext uri="{FF2B5EF4-FFF2-40B4-BE49-F238E27FC236}">
                <a16:creationId xmlns:a16="http://schemas.microsoft.com/office/drawing/2014/main" id="{9D02B92D-BB72-420A-B9E1-F8B4D6E6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9585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29" name="thesis-hypothesis">
            <a:extLst xmlns:a="http://schemas.openxmlformats.org/drawingml/2006/main">
              <a:ext uri="{FF2B5EF4-FFF2-40B4-BE49-F238E27FC236}">
                <a16:creationId xmlns:a16="http://schemas.microsoft.com/office/drawing/2014/main" id="{B8AAEEA1-FC62-42B1-9393-056E001C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515"/>
                </a:solidFill>
              </a:defRPr>
            </a:pPr>
            <a:r>
              <a:rPr sz="1575" b="0">
                <a:solidFill>
                  <a:srgbClr val="151515"/>
                </a:solidFill>
              </a:rPr>
              <a:t>Hipótese central: a rastreabilidade falha menos por falta de dados e mais porque os dados técnicos não são normalizados, calculados e traduzidos em uma experiência pública simples.</a:t>
            </a:r>
          </a:p>
        </p:txBody>
      </p:sp>
      <p:sp>
        <p:nvSpPr>
          <p:cNvPr id="30" name="footer-line">
            <a:extLst xmlns:a="http://schemas.openxmlformats.org/drawingml/2006/main">
              <a:ext uri="{FF2B5EF4-FFF2-40B4-BE49-F238E27FC236}">
                <a16:creationId xmlns:a16="http://schemas.microsoft.com/office/drawing/2014/main" id="{F4C883B1-65F7-4F5A-9547-9EAB9DD7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E2AE96C-DB96-4C16-95F1-E3422A37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25D"/>
                </a:solidFill>
              </a:defRPr>
            </a:pPr>
            <a:r>
              <a:rPr sz="900" b="1">
                <a:solidFill>
                  <a:srgbClr val="5E625D"/>
                </a:solidFill>
              </a:rPr>
              <a:t>PHYLLOS DPP Integrado</a:t>
            </a:r>
          </a:p>
        </p:txBody>
      </p:sp>
      <p:sp>
        <p:nvSpPr>
          <p:cNvPr id="3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A482181-E80F-4DEA-888E-3DD15E34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25D"/>
                </a:solidFill>
              </a:defRPr>
            </a:pPr>
            <a:r>
              <a:rPr sz="1050" b="1">
                <a:solidFill>
                  <a:srgbClr val="5E625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159568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CBC37227-83BA-4152-97E9-BD82EADF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A4F"/>
                </a:solidFill>
              </a:defRPr>
            </a:pPr>
            <a:r>
              <a:rPr sz="1050" b="1">
                <a:solidFill>
                  <a:srgbClr val="2D6A4F"/>
                </a:solidFill>
              </a:rPr>
              <a:t>CODEX + CLAUDE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041143-6608-4EBC-9886-11EA76D5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1515"/>
                </a:solidFill>
              </a:defRPr>
            </a:pPr>
            <a:r>
              <a:rPr sz="3150" b="1">
                <a:solidFill>
                  <a:srgbClr val="151515"/>
                </a:solidFill>
              </a:rPr>
              <a:t>Capacidade real de desenvolvimento</a:t>
            </a:r>
          </a:p>
        </p:txBody>
      </p:sp>
      <p:sp>
        <p:nvSpPr>
          <p:cNvPr id="3" name="cap-now-panel">
            <a:extLst xmlns:a="http://schemas.openxmlformats.org/drawingml/2006/main">
              <a:ext uri="{FF2B5EF4-FFF2-40B4-BE49-F238E27FC236}">
                <a16:creationId xmlns:a16="http://schemas.microsoft.com/office/drawing/2014/main" id="{52531C50-FA38-47D2-A027-ED9E29F5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3429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p-now-mark">
            <a:extLst xmlns:a="http://schemas.openxmlformats.org/drawingml/2006/main">
              <a:ext uri="{FF2B5EF4-FFF2-40B4-BE49-F238E27FC236}">
                <a16:creationId xmlns:a16="http://schemas.microsoft.com/office/drawing/2014/main" id="{295AB59B-616D-48BE-8DB9-4A925072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ap-now-title">
            <a:extLst xmlns:a="http://schemas.openxmlformats.org/drawingml/2006/main">
              <a:ext uri="{FF2B5EF4-FFF2-40B4-BE49-F238E27FC236}">
                <a16:creationId xmlns:a16="http://schemas.microsoft.com/office/drawing/2014/main" id="{1064160C-B6E7-4052-996E-E173891B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38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6A4F"/>
                </a:solidFill>
              </a:defRPr>
            </a:pPr>
            <a:r>
              <a:rPr sz="1650" b="1">
                <a:solidFill>
                  <a:srgbClr val="2D6A4F"/>
                </a:solidFill>
              </a:rPr>
              <a:t>Agora</a:t>
            </a:r>
          </a:p>
        </p:txBody>
      </p:sp>
      <p:sp>
        <p:nvSpPr>
          <p:cNvPr id="6" name="cap-now-body">
            <a:extLst xmlns:a="http://schemas.openxmlformats.org/drawingml/2006/main">
              <a:ext uri="{FF2B5EF4-FFF2-40B4-BE49-F238E27FC236}">
                <a16:creationId xmlns:a16="http://schemas.microsoft.com/office/drawing/2014/main" id="{F964404C-7288-4A2A-AFFB-90BEDBBB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29718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Protótipo HTML/CSS/JS</a:t>
            </a:r>
          </a:p>
          <a:p xmlns:a="http://schemas.openxmlformats.org/drawingml/2006/main">
            <a:pPr algn="l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FastAPI + SQLite</a:t>
            </a:r>
          </a:p>
          <a:p xmlns:a="http://schemas.openxmlformats.org/drawingml/2006/main">
            <a:pPr algn="l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CRUD produto/material/DPP</a:t>
            </a:r>
          </a:p>
          <a:p xmlns:a="http://schemas.openxmlformats.org/drawingml/2006/main">
            <a:pPr algn="l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Upload com metadados</a:t>
            </a:r>
          </a:p>
          <a:p xmlns:a="http://schemas.openxmlformats.org/drawingml/2006/main">
            <a:pPr algn="l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Cálculo determinístico</a:t>
            </a:r>
          </a:p>
          <a:p xmlns:a="http://schemas.openxmlformats.org/drawingml/2006/main">
            <a:pPr algn="l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QR e página pública</a:t>
            </a:r>
          </a:p>
          <a:p xmlns:a="http://schemas.openxmlformats.org/drawingml/2006/main">
            <a:pPr algn="l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Testes e documentação</a:t>
            </a:r>
          </a:p>
        </p:txBody>
      </p:sp>
      <p:sp>
        <p:nvSpPr>
          <p:cNvPr id="7" name="cap-later-panel">
            <a:extLst xmlns:a="http://schemas.openxmlformats.org/drawingml/2006/main">
              <a:ext uri="{FF2B5EF4-FFF2-40B4-BE49-F238E27FC236}">
                <a16:creationId xmlns:a16="http://schemas.microsoft.com/office/drawing/2014/main" id="{1B91A8BE-ED24-4079-940C-216E0DF6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66850"/>
            <a:ext cx="3429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p-later-mark">
            <a:extLst xmlns:a="http://schemas.openxmlformats.org/drawingml/2006/main">
              <a:ext uri="{FF2B5EF4-FFF2-40B4-BE49-F238E27FC236}">
                <a16:creationId xmlns:a16="http://schemas.microsoft.com/office/drawing/2014/main" id="{A758DA00-4A98-4FDD-8D09-22049B50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95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p-later-title">
            <a:extLst xmlns:a="http://schemas.openxmlformats.org/drawingml/2006/main">
              <a:ext uri="{FF2B5EF4-FFF2-40B4-BE49-F238E27FC236}">
                <a16:creationId xmlns:a16="http://schemas.microsoft.com/office/drawing/2014/main" id="{775A41A3-F3A5-4B53-AD83-C7C831CB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38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8A"/>
                </a:solidFill>
              </a:defRPr>
            </a:pPr>
            <a:r>
              <a:rPr sz="1650" b="1">
                <a:solidFill>
                  <a:srgbClr val="315E8A"/>
                </a:solidFill>
              </a:rPr>
              <a:t>Depois</a:t>
            </a:r>
          </a:p>
        </p:txBody>
      </p:sp>
      <p:sp>
        <p:nvSpPr>
          <p:cNvPr id="10" name="cap-later-body">
            <a:extLst xmlns:a="http://schemas.openxmlformats.org/drawingml/2006/main">
              <a:ext uri="{FF2B5EF4-FFF2-40B4-BE49-F238E27FC236}">
                <a16:creationId xmlns:a16="http://schemas.microsoft.com/office/drawing/2014/main" id="{6DE842DB-A62B-490C-87DD-07990021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14550"/>
            <a:ext cx="29718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Parser CSV/XLSX</a:t>
            </a:r>
          </a:p>
          <a:p xmlns:a="http://schemas.openxmlformats.org/drawingml/2006/main">
            <a:pPr algn="l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PDF estruturado parcial</a:t>
            </a:r>
          </a:p>
          <a:p xmlns:a="http://schemas.openxmlformats.org/drawingml/2006/main">
            <a:pPr algn="l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Exportação JSON/CSV</a:t>
            </a:r>
          </a:p>
          <a:p xmlns:a="http://schemas.openxmlformats.org/drawingml/2006/main">
            <a:pPr algn="l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Dashboard interno</a:t>
            </a:r>
          </a:p>
          <a:p xmlns:a="http://schemas.openxmlformats.org/drawingml/2006/main">
            <a:pPr algn="l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API simples</a:t>
            </a:r>
          </a:p>
          <a:p xmlns:a="http://schemas.openxmlformats.org/drawingml/2006/main">
            <a:pPr algn="l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Auth, permissões e multiempresa</a:t>
            </a:r>
          </a:p>
        </p:txBody>
      </p:sp>
      <p:sp>
        <p:nvSpPr>
          <p:cNvPr id="11" name="cap-no-panel">
            <a:extLst xmlns:a="http://schemas.openxmlformats.org/drawingml/2006/main">
              <a:ext uri="{FF2B5EF4-FFF2-40B4-BE49-F238E27FC236}">
                <a16:creationId xmlns:a16="http://schemas.microsoft.com/office/drawing/2014/main" id="{F552F512-694C-4E04-9308-B13E8865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66850"/>
            <a:ext cx="3429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ap-no-mark">
            <a:extLst xmlns:a="http://schemas.openxmlformats.org/drawingml/2006/main">
              <a:ext uri="{FF2B5EF4-FFF2-40B4-BE49-F238E27FC236}">
                <a16:creationId xmlns:a16="http://schemas.microsoft.com/office/drawing/2014/main" id="{C6BAD145-444D-42F1-AB73-71931C9D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95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4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p-no-title">
            <a:extLst xmlns:a="http://schemas.openxmlformats.org/drawingml/2006/main">
              <a:ext uri="{FF2B5EF4-FFF2-40B4-BE49-F238E27FC236}">
                <a16:creationId xmlns:a16="http://schemas.microsoft.com/office/drawing/2014/main" id="{D33B7F5C-DBBC-4B4D-AEA5-32107B66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38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0473B"/>
                </a:solidFill>
              </a:defRPr>
            </a:pPr>
            <a:r>
              <a:rPr sz="1650" b="1">
                <a:solidFill>
                  <a:srgbClr val="A0473B"/>
                </a:solidFill>
              </a:rPr>
              <a:t>Fora da V1</a:t>
            </a:r>
          </a:p>
        </p:txBody>
      </p:sp>
      <p:sp>
        <p:nvSpPr>
          <p:cNvPr id="14" name="cap-no-body">
            <a:extLst xmlns:a="http://schemas.openxmlformats.org/drawingml/2006/main">
              <a:ext uri="{FF2B5EF4-FFF2-40B4-BE49-F238E27FC236}">
                <a16:creationId xmlns:a16="http://schemas.microsoft.com/office/drawing/2014/main" id="{C728C891-F598-45A3-B39C-3F15F221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718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Parser universal DXF/AAMA</a:t>
            </a:r>
          </a:p>
          <a:p xmlns:a="http://schemas.openxmlformats.org/drawingml/2006/main">
            <a:pPr algn="l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ACV oficial</a:t>
            </a:r>
          </a:p>
          <a:p xmlns:a="http://schemas.openxmlformats.org/drawingml/2006/main">
            <a:pPr algn="l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Auditoria ambiental</a:t>
            </a:r>
          </a:p>
          <a:p xmlns:a="http://schemas.openxmlformats.org/drawingml/2006/main">
            <a:pPr algn="l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Compliance jurídico garantido</a:t>
            </a:r>
          </a:p>
          <a:p xmlns:a="http://schemas.openxmlformats.org/drawingml/2006/main">
            <a:pPr algn="l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Integrações nativas com todos os CADs</a:t>
            </a:r>
          </a:p>
          <a:p xmlns:a="http://schemas.openxmlformats.org/drawingml/2006/main">
            <a:pPr algn="l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Edição de molde/desenho</a:t>
            </a:r>
          </a:p>
        </p:txBody>
      </p:sp>
      <p:sp>
        <p:nvSpPr>
          <p:cNvPr id="15" name="cap-guardrail">
            <a:extLst xmlns:a="http://schemas.openxmlformats.org/drawingml/2006/main">
              <a:ext uri="{FF2B5EF4-FFF2-40B4-BE49-F238E27FC236}">
                <a16:creationId xmlns:a16="http://schemas.microsoft.com/office/drawing/2014/main" id="{C04878B9-7674-433F-8D5A-43CD7A87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25D"/>
                </a:solidFill>
              </a:defRPr>
            </a:pPr>
            <a:r>
              <a:rPr sz="1575" b="0">
                <a:solidFill>
                  <a:srgbClr val="5E625D"/>
                </a:solidFill>
              </a:rPr>
              <a:t>Guardrail: IA ajuda a especificar, revisar e organizar; cálculo e publicação precisam ser determinísticos, rastreáveis e testáveis.</a:t>
            </a:r>
          </a:p>
        </p:txBody>
      </p:sp>
      <p:sp>
        <p:nvSpPr>
          <p:cNvPr id="16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956D7BD-B9D7-4EA0-BA25-3257B781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74744A7D-16F3-4A05-93C3-84A532AE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25D"/>
                </a:solidFill>
              </a:defRPr>
            </a:pPr>
            <a:r>
              <a:rPr sz="900" b="1">
                <a:solidFill>
                  <a:srgbClr val="5E625D"/>
                </a:solidFill>
              </a:rPr>
              <a:t>PHYLLOS DPP Integrado</a:t>
            </a:r>
          </a:p>
        </p:txBody>
      </p:sp>
      <p:sp>
        <p:nvSpPr>
          <p:cNvPr id="1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906A138-0238-4B4C-A9E0-FB53EBD4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25D"/>
                </a:solidFill>
              </a:defRPr>
            </a:pPr>
            <a:r>
              <a:rPr sz="1050" b="1">
                <a:solidFill>
                  <a:srgbClr val="5E625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520122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6907848F-C1DD-446D-9BE8-46417076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A4F"/>
                </a:solidFill>
              </a:defRPr>
            </a:pPr>
            <a:r>
              <a:rPr sz="1050" b="1">
                <a:solidFill>
                  <a:srgbClr val="2D6A4F"/>
                </a:solidFill>
              </a:rPr>
              <a:t>SISTEMA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61D1BB-DE2E-4CA3-AB70-DE6472BA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1515"/>
                </a:solidFill>
              </a:defRPr>
            </a:pPr>
            <a:r>
              <a:rPr sz="3150" b="1">
                <a:solidFill>
                  <a:srgbClr val="151515"/>
                </a:solidFill>
              </a:rPr>
              <a:t>Arquitetura modular do MVP</a:t>
            </a:r>
          </a:p>
        </p:txBody>
      </p:sp>
      <p:sp>
        <p:nvSpPr>
          <p:cNvPr id="3" name="arch-core">
            <a:extLst xmlns:a="http://schemas.openxmlformats.org/drawingml/2006/main">
              <a:ext uri="{FF2B5EF4-FFF2-40B4-BE49-F238E27FC236}">
                <a16:creationId xmlns:a16="http://schemas.microsoft.com/office/drawing/2014/main" id="{0EDAF48A-F5FB-4FF2-B014-A2FD5D4A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76450"/>
            <a:ext cx="4381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rch-core-title">
            <a:extLst xmlns:a="http://schemas.openxmlformats.org/drawingml/2006/main">
              <a:ext uri="{FF2B5EF4-FFF2-40B4-BE49-F238E27FC236}">
                <a16:creationId xmlns:a16="http://schemas.microsoft.com/office/drawing/2014/main" id="{1B79F583-730F-4F79-BDA8-3CE406C7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24100"/>
            <a:ext cx="3962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DPP Studio</a:t>
            </a:r>
          </a:p>
        </p:txBody>
      </p:sp>
      <p:sp>
        <p:nvSpPr>
          <p:cNvPr id="5" name="arch-core-body">
            <a:extLst xmlns:a="http://schemas.openxmlformats.org/drawingml/2006/main">
              <a:ext uri="{FF2B5EF4-FFF2-40B4-BE49-F238E27FC236}">
                <a16:creationId xmlns:a16="http://schemas.microsoft.com/office/drawing/2014/main" id="{48DFC4D5-D491-4716-83CA-1DE2C350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2415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camada interna de cadastro, cálculo e publicação</a:t>
            </a:r>
          </a:p>
        </p:txBody>
      </p:sp>
      <p:sp>
        <p:nvSpPr>
          <p:cNvPr id="6" name="arch-module-0">
            <a:extLst xmlns:a="http://schemas.openxmlformats.org/drawingml/2006/main">
              <a:ext uri="{FF2B5EF4-FFF2-40B4-BE49-F238E27FC236}">
                <a16:creationId xmlns:a16="http://schemas.microsoft.com/office/drawing/2014/main" id="{4DCD3DCF-218A-48AB-9EEC-ADE1D214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7" name="arch-module-mark-0">
            <a:extLst xmlns:a="http://schemas.openxmlformats.org/drawingml/2006/main">
              <a:ext uri="{FF2B5EF4-FFF2-40B4-BE49-F238E27FC236}">
                <a16:creationId xmlns:a16="http://schemas.microsoft.com/office/drawing/2014/main" id="{2F3E995A-A3B0-417E-A70A-0850B870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-module-label-0">
            <a:extLst xmlns:a="http://schemas.openxmlformats.org/drawingml/2006/main">
              <a:ext uri="{FF2B5EF4-FFF2-40B4-BE49-F238E27FC236}">
                <a16:creationId xmlns:a16="http://schemas.microsoft.com/office/drawing/2014/main" id="{001CD713-6452-496D-A568-B61B651C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526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</a:defRPr>
            </a:pPr>
            <a:r>
              <a:rPr sz="1425" b="1">
                <a:solidFill>
                  <a:srgbClr val="151515"/>
                </a:solidFill>
              </a:rPr>
              <a:t>Product Registry</a:t>
            </a:r>
          </a:p>
        </p:txBody>
      </p:sp>
      <p:sp>
        <p:nvSpPr>
          <p:cNvPr id="9" name="arch-module-1">
            <a:extLst xmlns:a="http://schemas.openxmlformats.org/drawingml/2006/main">
              <a:ext uri="{FF2B5EF4-FFF2-40B4-BE49-F238E27FC236}">
                <a16:creationId xmlns:a16="http://schemas.microsoft.com/office/drawing/2014/main" id="{68BD8A32-92CC-49ED-9F36-300EE288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10" name="arch-module-mark-1">
            <a:extLst xmlns:a="http://schemas.openxmlformats.org/drawingml/2006/main">
              <a:ext uri="{FF2B5EF4-FFF2-40B4-BE49-F238E27FC236}">
                <a16:creationId xmlns:a16="http://schemas.microsoft.com/office/drawing/2014/main" id="{7A1FAF79-5065-4C19-843C-F7621073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ch-module-label-1">
            <a:extLst xmlns:a="http://schemas.openxmlformats.org/drawingml/2006/main">
              <a:ext uri="{FF2B5EF4-FFF2-40B4-BE49-F238E27FC236}">
                <a16:creationId xmlns:a16="http://schemas.microsoft.com/office/drawing/2014/main" id="{C3E5DC78-10BC-44F3-85BE-DDACC404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</a:defRPr>
            </a:pPr>
            <a:r>
              <a:rPr sz="1425" b="1">
                <a:solidFill>
                  <a:srgbClr val="151515"/>
                </a:solidFill>
              </a:rPr>
              <a:t>Material Registry</a:t>
            </a:r>
          </a:p>
        </p:txBody>
      </p:sp>
      <p:sp>
        <p:nvSpPr>
          <p:cNvPr id="12" name="arch-module-2">
            <a:extLst xmlns:a="http://schemas.openxmlformats.org/drawingml/2006/main">
              <a:ext uri="{FF2B5EF4-FFF2-40B4-BE49-F238E27FC236}">
                <a16:creationId xmlns:a16="http://schemas.microsoft.com/office/drawing/2014/main" id="{2244B88D-99ED-4578-890A-9C29ADC2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38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13" name="arch-module-mark-2">
            <a:extLst xmlns:a="http://schemas.openxmlformats.org/drawingml/2006/main">
              <a:ext uri="{FF2B5EF4-FFF2-40B4-BE49-F238E27FC236}">
                <a16:creationId xmlns:a16="http://schemas.microsoft.com/office/drawing/2014/main" id="{B9FE36CB-6C68-43E3-96F1-0B2FABC1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rch-module-label-2">
            <a:extLst xmlns:a="http://schemas.openxmlformats.org/drawingml/2006/main">
              <a:ext uri="{FF2B5EF4-FFF2-40B4-BE49-F238E27FC236}">
                <a16:creationId xmlns:a16="http://schemas.microsoft.com/office/drawing/2014/main" id="{BC420E10-90E7-46DD-A45E-EA1C26D1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</a:defRPr>
            </a:pPr>
            <a:r>
              <a:rPr sz="1425" b="1">
                <a:solidFill>
                  <a:srgbClr val="151515"/>
                </a:solidFill>
              </a:rPr>
              <a:t>Technical File Intake</a:t>
            </a:r>
          </a:p>
        </p:txBody>
      </p:sp>
      <p:sp>
        <p:nvSpPr>
          <p:cNvPr id="15" name="arch-module-3">
            <a:extLst xmlns:a="http://schemas.openxmlformats.org/drawingml/2006/main">
              <a:ext uri="{FF2B5EF4-FFF2-40B4-BE49-F238E27FC236}">
                <a16:creationId xmlns:a16="http://schemas.microsoft.com/office/drawing/2014/main" id="{C43F82D0-9D8E-41DC-87AC-9AC35DDC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147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16" name="arch-module-mark-3">
            <a:extLst xmlns:a="http://schemas.openxmlformats.org/drawingml/2006/main">
              <a:ext uri="{FF2B5EF4-FFF2-40B4-BE49-F238E27FC236}">
                <a16:creationId xmlns:a16="http://schemas.microsoft.com/office/drawing/2014/main" id="{50885FBF-419D-482B-B4CB-8AB976A0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43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ch-module-label-3">
            <a:extLst xmlns:a="http://schemas.openxmlformats.org/drawingml/2006/main">
              <a:ext uri="{FF2B5EF4-FFF2-40B4-BE49-F238E27FC236}">
                <a16:creationId xmlns:a16="http://schemas.microsoft.com/office/drawing/2014/main" id="{6745FB17-F0C3-4F1F-8BA5-1CB47F14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243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</a:defRPr>
            </a:pPr>
            <a:r>
              <a:rPr sz="1425" b="1">
                <a:solidFill>
                  <a:srgbClr val="151515"/>
                </a:solidFill>
              </a:rPr>
              <a:t>Area/Loss Calculator</a:t>
            </a:r>
          </a:p>
        </p:txBody>
      </p:sp>
      <p:sp>
        <p:nvSpPr>
          <p:cNvPr id="18" name="arch-module-4">
            <a:extLst xmlns:a="http://schemas.openxmlformats.org/drawingml/2006/main">
              <a:ext uri="{FF2B5EF4-FFF2-40B4-BE49-F238E27FC236}">
                <a16:creationId xmlns:a16="http://schemas.microsoft.com/office/drawing/2014/main" id="{9031061D-C234-42D9-8635-278F1BDE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147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19" name="arch-module-mark-4">
            <a:extLst xmlns:a="http://schemas.openxmlformats.org/drawingml/2006/main">
              <a:ext uri="{FF2B5EF4-FFF2-40B4-BE49-F238E27FC236}">
                <a16:creationId xmlns:a16="http://schemas.microsoft.com/office/drawing/2014/main" id="{458106F6-9567-4FD2-BBEB-266B487F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43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rch-module-label-4">
            <a:extLst xmlns:a="http://schemas.openxmlformats.org/drawingml/2006/main">
              <a:ext uri="{FF2B5EF4-FFF2-40B4-BE49-F238E27FC236}">
                <a16:creationId xmlns:a16="http://schemas.microsoft.com/office/drawing/2014/main" id="{CBCE706A-5BA3-4A52-B26F-DAF7F231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243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</a:defRPr>
            </a:pPr>
            <a:r>
              <a:rPr sz="1425" b="1">
                <a:solidFill>
                  <a:srgbClr val="151515"/>
                </a:solidFill>
              </a:rPr>
              <a:t>Indicator Engine</a:t>
            </a:r>
          </a:p>
        </p:txBody>
      </p:sp>
      <p:sp>
        <p:nvSpPr>
          <p:cNvPr id="21" name="arch-module-5">
            <a:extLst xmlns:a="http://schemas.openxmlformats.org/drawingml/2006/main">
              <a:ext uri="{FF2B5EF4-FFF2-40B4-BE49-F238E27FC236}">
                <a16:creationId xmlns:a16="http://schemas.microsoft.com/office/drawing/2014/main" id="{791F9E5D-17FF-45A4-A72D-E61C6B3D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430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22" name="arch-module-mark-5">
            <a:extLst xmlns:a="http://schemas.openxmlformats.org/drawingml/2006/main">
              <a:ext uri="{FF2B5EF4-FFF2-40B4-BE49-F238E27FC236}">
                <a16:creationId xmlns:a16="http://schemas.microsoft.com/office/drawing/2014/main" id="{CA1734B5-1980-4146-9129-BAB9ED68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7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rch-module-label-5">
            <a:extLst xmlns:a="http://schemas.openxmlformats.org/drawingml/2006/main">
              <a:ext uri="{FF2B5EF4-FFF2-40B4-BE49-F238E27FC236}">
                <a16:creationId xmlns:a16="http://schemas.microsoft.com/office/drawing/2014/main" id="{545AAF0C-25D5-4392-AED7-1FBA732B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526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</a:defRPr>
            </a:pPr>
            <a:r>
              <a:rPr sz="1425" b="1">
                <a:solidFill>
                  <a:srgbClr val="151515"/>
                </a:solidFill>
              </a:rPr>
              <a:t>Evidence Ledger</a:t>
            </a:r>
          </a:p>
        </p:txBody>
      </p:sp>
      <p:sp>
        <p:nvSpPr>
          <p:cNvPr id="24" name="arch-module-6">
            <a:extLst xmlns:a="http://schemas.openxmlformats.org/drawingml/2006/main">
              <a:ext uri="{FF2B5EF4-FFF2-40B4-BE49-F238E27FC236}">
                <a16:creationId xmlns:a16="http://schemas.microsoft.com/office/drawing/2014/main" id="{FF93BE32-1F81-4097-9AA7-9EE90BE7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384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25" name="arch-module-mark-6">
            <a:extLst xmlns:a="http://schemas.openxmlformats.org/drawingml/2006/main">
              <a:ext uri="{FF2B5EF4-FFF2-40B4-BE49-F238E27FC236}">
                <a16:creationId xmlns:a16="http://schemas.microsoft.com/office/drawing/2014/main" id="{37A41452-4561-48B1-938D-8C869651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67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rch-module-label-6">
            <a:extLst xmlns:a="http://schemas.openxmlformats.org/drawingml/2006/main">
              <a:ext uri="{FF2B5EF4-FFF2-40B4-BE49-F238E27FC236}">
                <a16:creationId xmlns:a16="http://schemas.microsoft.com/office/drawing/2014/main" id="{87286E62-7BAD-4A2C-BD73-25579FCA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480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</a:defRPr>
            </a:pPr>
            <a:r>
              <a:rPr sz="1425" b="1">
                <a:solidFill>
                  <a:srgbClr val="151515"/>
                </a:solidFill>
              </a:rPr>
              <a:t>DPP Publisher</a:t>
            </a:r>
          </a:p>
        </p:txBody>
      </p:sp>
      <p:sp>
        <p:nvSpPr>
          <p:cNvPr id="27" name="arch-module-7">
            <a:extLst xmlns:a="http://schemas.openxmlformats.org/drawingml/2006/main">
              <a:ext uri="{FF2B5EF4-FFF2-40B4-BE49-F238E27FC236}">
                <a16:creationId xmlns:a16="http://schemas.microsoft.com/office/drawing/2014/main" id="{364636B2-313C-48A5-80D5-B76BF05E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482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28" name="arch-module-mark-7">
            <a:extLst xmlns:a="http://schemas.openxmlformats.org/drawingml/2006/main">
              <a:ext uri="{FF2B5EF4-FFF2-40B4-BE49-F238E27FC236}">
                <a16:creationId xmlns:a16="http://schemas.microsoft.com/office/drawing/2014/main" id="{45407A48-C0E9-40B4-9EE5-3917171A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76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arch-module-label-7">
            <a:extLst xmlns:a="http://schemas.openxmlformats.org/drawingml/2006/main">
              <a:ext uri="{FF2B5EF4-FFF2-40B4-BE49-F238E27FC236}">
                <a16:creationId xmlns:a16="http://schemas.microsoft.com/office/drawing/2014/main" id="{C2F96496-2679-40D7-B3D0-887AC376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8577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</a:defRPr>
            </a:pPr>
            <a:r>
              <a:rPr sz="1425" b="1">
                <a:solidFill>
                  <a:srgbClr val="151515"/>
                </a:solidFill>
              </a:rPr>
              <a:t>QR / Flashcard Viewer</a:t>
            </a:r>
          </a:p>
        </p:txBody>
      </p:sp>
      <p:sp>
        <p:nvSpPr>
          <p:cNvPr id="30" name="arch-input">
            <a:extLst xmlns:a="http://schemas.openxmlformats.org/drawingml/2006/main">
              <a:ext uri="{FF2B5EF4-FFF2-40B4-BE49-F238E27FC236}">
                <a16:creationId xmlns:a16="http://schemas.microsoft.com/office/drawing/2014/main" id="{3587DAD5-8262-4011-9964-79D69E45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066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E625D"/>
                </a:solidFill>
              </a:defRPr>
            </a:pPr>
            <a:r>
              <a:rPr sz="1350" b="1">
                <a:solidFill>
                  <a:srgbClr val="5E625D"/>
                </a:solidFill>
              </a:rPr>
              <a:t>Entrada</a:t>
            </a:r>
          </a:p>
        </p:txBody>
      </p:sp>
      <p:sp>
        <p:nvSpPr>
          <p:cNvPr id="31" name="arch-calc">
            <a:extLst xmlns:a="http://schemas.openxmlformats.org/drawingml/2006/main">
              <a:ext uri="{FF2B5EF4-FFF2-40B4-BE49-F238E27FC236}">
                <a16:creationId xmlns:a16="http://schemas.microsoft.com/office/drawing/2014/main" id="{E7FF75AC-6854-4071-826C-64B16C21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124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E625D"/>
                </a:solidFill>
              </a:defRPr>
            </a:pPr>
            <a:r>
              <a:rPr sz="1350" b="1">
                <a:solidFill>
                  <a:srgbClr val="5E625D"/>
                </a:solidFill>
              </a:rPr>
              <a:t>Cálculo</a:t>
            </a:r>
          </a:p>
        </p:txBody>
      </p:sp>
      <p:sp>
        <p:nvSpPr>
          <p:cNvPr id="32" name="arch-output">
            <a:extLst xmlns:a="http://schemas.openxmlformats.org/drawingml/2006/main">
              <a:ext uri="{FF2B5EF4-FFF2-40B4-BE49-F238E27FC236}">
                <a16:creationId xmlns:a16="http://schemas.microsoft.com/office/drawing/2014/main" id="{400B9E7A-A8D4-48AC-BBB0-FF67ADC6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066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E625D"/>
                </a:solidFill>
              </a:defRPr>
            </a:pPr>
            <a:r>
              <a:rPr sz="1350" b="1">
                <a:solidFill>
                  <a:srgbClr val="5E625D"/>
                </a:solidFill>
              </a:rPr>
              <a:t>Publicação</a:t>
            </a:r>
          </a:p>
        </p:txBody>
      </p:sp>
      <p:sp>
        <p:nvSpPr>
          <p:cNvPr id="3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8DF8A197-E06B-4CCB-81F6-B1D2A84D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74DAB3C-31EE-478A-AF7E-BFAAEAD8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25D"/>
                </a:solidFill>
              </a:defRPr>
            </a:pPr>
            <a:r>
              <a:rPr sz="900" b="1">
                <a:solidFill>
                  <a:srgbClr val="5E625D"/>
                </a:solidFill>
              </a:rPr>
              <a:t>PHYLLOS DPP Integrado</a:t>
            </a:r>
          </a:p>
        </p:txBody>
      </p:sp>
      <p:sp>
        <p:nvSpPr>
          <p:cNvPr id="3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3129123-0BC9-463D-A39A-D9E8A844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25D"/>
                </a:solidFill>
              </a:defRPr>
            </a:pPr>
            <a:r>
              <a:rPr sz="1050" b="1">
                <a:solidFill>
                  <a:srgbClr val="5E625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805477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4E56C2E3-CC52-4C4C-89C9-3AAB91E1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A4F"/>
                </a:solidFill>
              </a:defRPr>
            </a:pPr>
            <a:r>
              <a:rPr sz="1050" b="1">
                <a:solidFill>
                  <a:srgbClr val="2D6A4F"/>
                </a:solidFill>
              </a:rPr>
              <a:t>ASSUMINDO INÍCIO EM 29/06/2026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558ADE-B87F-4E37-B16F-E9C3EADD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1515"/>
                </a:solidFill>
              </a:defRPr>
            </a:pPr>
            <a:r>
              <a:rPr sz="3150" b="1">
                <a:solidFill>
                  <a:srgbClr val="151515"/>
                </a:solidFill>
              </a:rPr>
              <a:t>Cronograma 0-12 semanas</a:t>
            </a:r>
          </a:p>
        </p:txBody>
      </p:sp>
      <p:sp>
        <p:nvSpPr>
          <p:cNvPr id="3" name="t0-top">
            <a:extLst xmlns:a="http://schemas.openxmlformats.org/drawingml/2006/main">
              <a:ext uri="{FF2B5EF4-FFF2-40B4-BE49-F238E27FC236}">
                <a16:creationId xmlns:a16="http://schemas.microsoft.com/office/drawing/2014/main" id="{EC3F35A7-AC15-472D-BB1A-9D325690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924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0-panel">
            <a:extLst xmlns:a="http://schemas.openxmlformats.org/drawingml/2006/main">
              <a:ext uri="{FF2B5EF4-FFF2-40B4-BE49-F238E27FC236}">
                <a16:creationId xmlns:a16="http://schemas.microsoft.com/office/drawing/2014/main" id="{13396BC4-4226-476C-AF78-9A848FDB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9240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5" name="t0-phase">
            <a:extLst xmlns:a="http://schemas.openxmlformats.org/drawingml/2006/main">
              <a:ext uri="{FF2B5EF4-FFF2-40B4-BE49-F238E27FC236}">
                <a16:creationId xmlns:a16="http://schemas.microsoft.com/office/drawing/2014/main" id="{B53AD851-7979-4148-BD7D-0E68A945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D6A4F"/>
                </a:solidFill>
              </a:defRPr>
            </a:pPr>
            <a:r>
              <a:rPr sz="1575" b="1">
                <a:solidFill>
                  <a:srgbClr val="2D6A4F"/>
                </a:solidFill>
              </a:rPr>
              <a:t>S1</a:t>
            </a:r>
          </a:p>
        </p:txBody>
      </p:sp>
      <p:sp>
        <p:nvSpPr>
          <p:cNvPr id="6" name="t0-date">
            <a:extLst xmlns:a="http://schemas.openxmlformats.org/drawingml/2006/main">
              <a:ext uri="{FF2B5EF4-FFF2-40B4-BE49-F238E27FC236}">
                <a16:creationId xmlns:a16="http://schemas.microsoft.com/office/drawing/2014/main" id="{7813B70A-C8C8-48AC-B026-F37E0692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25D"/>
                </a:solidFill>
              </a:defRPr>
            </a:pPr>
            <a:r>
              <a:rPr sz="1125" b="1">
                <a:solidFill>
                  <a:srgbClr val="5E625D"/>
                </a:solidFill>
              </a:rPr>
              <a:t>29 jun-03 jul</a:t>
            </a:r>
          </a:p>
        </p:txBody>
      </p:sp>
      <p:sp>
        <p:nvSpPr>
          <p:cNvPr id="7" name="t0-goal">
            <a:extLst xmlns:a="http://schemas.openxmlformats.org/drawingml/2006/main">
              <a:ext uri="{FF2B5EF4-FFF2-40B4-BE49-F238E27FC236}">
                <a16:creationId xmlns:a16="http://schemas.microsoft.com/office/drawing/2014/main" id="{18EAAB06-C19F-4EA6-9673-BE873FF2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</a:defRPr>
            </a:pPr>
            <a:r>
              <a:rPr sz="1275" b="1">
                <a:solidFill>
                  <a:srgbClr val="151515"/>
                </a:solidFill>
              </a:rPr>
              <a:t>Alinhamento</a:t>
            </a:r>
          </a:p>
        </p:txBody>
      </p:sp>
      <p:sp>
        <p:nvSpPr>
          <p:cNvPr id="8" name="t0-output">
            <a:extLst xmlns:a="http://schemas.openxmlformats.org/drawingml/2006/main">
              <a:ext uri="{FF2B5EF4-FFF2-40B4-BE49-F238E27FC236}">
                <a16:creationId xmlns:a16="http://schemas.microsoft.com/office/drawing/2014/main" id="{2974210C-F1B5-493A-BA21-6DD463DF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D"/>
                </a:solidFill>
              </a:defRPr>
            </a:pPr>
            <a:r>
              <a:rPr sz="1125" b="0">
                <a:solidFill>
                  <a:srgbClr val="5E625D"/>
                </a:solidFill>
              </a:rPr>
              <a:t>PRD v0, critérios de aceite e 5 pilotos-alvo.</a:t>
            </a:r>
          </a:p>
        </p:txBody>
      </p:sp>
      <p:sp>
        <p:nvSpPr>
          <p:cNvPr id="9" name="t1-top">
            <a:extLst xmlns:a="http://schemas.openxmlformats.org/drawingml/2006/main">
              <a:ext uri="{FF2B5EF4-FFF2-40B4-BE49-F238E27FC236}">
                <a16:creationId xmlns:a16="http://schemas.microsoft.com/office/drawing/2014/main" id="{1A3835AF-75FC-4C77-B826-B754A509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09750"/>
            <a:ext cx="1924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1-panel">
            <a:extLst xmlns:a="http://schemas.openxmlformats.org/drawingml/2006/main">
              <a:ext uri="{FF2B5EF4-FFF2-40B4-BE49-F238E27FC236}">
                <a16:creationId xmlns:a16="http://schemas.microsoft.com/office/drawing/2014/main" id="{AA8F4C7E-CFF3-427B-BD01-B6F34E48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95475"/>
            <a:ext cx="19240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11" name="t1-phase">
            <a:extLst xmlns:a="http://schemas.openxmlformats.org/drawingml/2006/main">
              <a:ext uri="{FF2B5EF4-FFF2-40B4-BE49-F238E27FC236}">
                <a16:creationId xmlns:a16="http://schemas.microsoft.com/office/drawing/2014/main" id="{D2AD6536-D104-4CE4-B259-6BF7FC7C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764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E8A"/>
                </a:solidFill>
              </a:defRPr>
            </a:pPr>
            <a:r>
              <a:rPr sz="1575" b="1">
                <a:solidFill>
                  <a:srgbClr val="315E8A"/>
                </a:solidFill>
              </a:rPr>
              <a:t>S2-3</a:t>
            </a:r>
          </a:p>
        </p:txBody>
      </p:sp>
      <p:sp>
        <p:nvSpPr>
          <p:cNvPr id="12" name="t1-date">
            <a:extLst xmlns:a="http://schemas.openxmlformats.org/drawingml/2006/main">
              <a:ext uri="{FF2B5EF4-FFF2-40B4-BE49-F238E27FC236}">
                <a16:creationId xmlns:a16="http://schemas.microsoft.com/office/drawing/2014/main" id="{8A272812-5911-4818-BB95-22EAFC5B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574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25D"/>
                </a:solidFill>
              </a:defRPr>
            </a:pPr>
            <a:r>
              <a:rPr sz="1125" b="1">
                <a:solidFill>
                  <a:srgbClr val="5E625D"/>
                </a:solidFill>
              </a:rPr>
              <a:t>06-17 jul</a:t>
            </a:r>
          </a:p>
        </p:txBody>
      </p:sp>
      <p:sp>
        <p:nvSpPr>
          <p:cNvPr id="13" name="t1-goal">
            <a:extLst xmlns:a="http://schemas.openxmlformats.org/drawingml/2006/main">
              <a:ext uri="{FF2B5EF4-FFF2-40B4-BE49-F238E27FC236}">
                <a16:creationId xmlns:a16="http://schemas.microsoft.com/office/drawing/2014/main" id="{D9CA5732-02AC-4AB9-980F-ADFBD6B3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003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</a:defRPr>
            </a:pPr>
            <a:r>
              <a:rPr sz="1275" b="1">
                <a:solidFill>
                  <a:srgbClr val="151515"/>
                </a:solidFill>
              </a:rPr>
              <a:t>Protótipo + dados</a:t>
            </a:r>
          </a:p>
        </p:txBody>
      </p:sp>
      <p:sp>
        <p:nvSpPr>
          <p:cNvPr id="14" name="t1-output">
            <a:extLst xmlns:a="http://schemas.openxmlformats.org/drawingml/2006/main">
              <a:ext uri="{FF2B5EF4-FFF2-40B4-BE49-F238E27FC236}">
                <a16:creationId xmlns:a16="http://schemas.microsoft.com/office/drawing/2014/main" id="{57ACD32E-9393-44F4-AF11-E8FD0B00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290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D"/>
                </a:solidFill>
              </a:defRPr>
            </a:pPr>
            <a:r>
              <a:rPr sz="1125" b="0">
                <a:solidFill>
                  <a:srgbClr val="5E625D"/>
                </a:solidFill>
              </a:rPr>
              <a:t>Fluxo navegável, schema, fórmulas e estados de evidência.</a:t>
            </a:r>
          </a:p>
        </p:txBody>
      </p:sp>
      <p:sp>
        <p:nvSpPr>
          <p:cNvPr id="15" name="t2-top">
            <a:extLst xmlns:a="http://schemas.openxmlformats.org/drawingml/2006/main">
              <a:ext uri="{FF2B5EF4-FFF2-40B4-BE49-F238E27FC236}">
                <a16:creationId xmlns:a16="http://schemas.microsoft.com/office/drawing/2014/main" id="{272C7C9F-469D-441F-B701-F8D70155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1924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2-panel">
            <a:extLst xmlns:a="http://schemas.openxmlformats.org/drawingml/2006/main">
              <a:ext uri="{FF2B5EF4-FFF2-40B4-BE49-F238E27FC236}">
                <a16:creationId xmlns:a16="http://schemas.microsoft.com/office/drawing/2014/main" id="{FF68F727-CBCA-4A1B-8E70-33E1DE64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95475"/>
            <a:ext cx="19240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17" name="t2-phase">
            <a:extLst xmlns:a="http://schemas.openxmlformats.org/drawingml/2006/main">
              <a:ext uri="{FF2B5EF4-FFF2-40B4-BE49-F238E27FC236}">
                <a16:creationId xmlns:a16="http://schemas.microsoft.com/office/drawing/2014/main" id="{BE3D17EE-7073-4D09-8808-3821888F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764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26B2B"/>
                </a:solidFill>
              </a:defRPr>
            </a:pPr>
            <a:r>
              <a:rPr sz="1575" b="1">
                <a:solidFill>
                  <a:srgbClr val="B26B2B"/>
                </a:solidFill>
              </a:rPr>
              <a:t>S4-6</a:t>
            </a:r>
          </a:p>
        </p:txBody>
      </p:sp>
      <p:sp>
        <p:nvSpPr>
          <p:cNvPr id="18" name="t2-date">
            <a:extLst xmlns:a="http://schemas.openxmlformats.org/drawingml/2006/main">
              <a:ext uri="{FF2B5EF4-FFF2-40B4-BE49-F238E27FC236}">
                <a16:creationId xmlns:a16="http://schemas.microsoft.com/office/drawing/2014/main" id="{A10536CD-1D54-47EB-AFF9-E88FB12A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574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25D"/>
                </a:solidFill>
              </a:defRPr>
            </a:pPr>
            <a:r>
              <a:rPr sz="1125" b="1">
                <a:solidFill>
                  <a:srgbClr val="5E625D"/>
                </a:solidFill>
              </a:rPr>
              <a:t>20 jul-07 ago</a:t>
            </a:r>
          </a:p>
        </p:txBody>
      </p:sp>
      <p:sp>
        <p:nvSpPr>
          <p:cNvPr id="19" name="t2-goal">
            <a:extLst xmlns:a="http://schemas.openxmlformats.org/drawingml/2006/main">
              <a:ext uri="{FF2B5EF4-FFF2-40B4-BE49-F238E27FC236}">
                <a16:creationId xmlns:a16="http://schemas.microsoft.com/office/drawing/2014/main" id="{861F651A-1DDB-4AA0-8A44-71956C77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003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</a:defRPr>
            </a:pPr>
            <a:r>
              <a:rPr sz="1275" b="1">
                <a:solidFill>
                  <a:srgbClr val="151515"/>
                </a:solidFill>
              </a:rPr>
              <a:t>Backend MVP</a:t>
            </a:r>
          </a:p>
        </p:txBody>
      </p:sp>
      <p:sp>
        <p:nvSpPr>
          <p:cNvPr id="20" name="t2-output">
            <a:extLst xmlns:a="http://schemas.openxmlformats.org/drawingml/2006/main">
              <a:ext uri="{FF2B5EF4-FFF2-40B4-BE49-F238E27FC236}">
                <a16:creationId xmlns:a16="http://schemas.microsoft.com/office/drawing/2014/main" id="{67E4BF26-063C-4D52-B15A-1E0C5341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290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D"/>
                </a:solidFill>
              </a:defRPr>
            </a:pPr>
            <a:r>
              <a:rPr sz="1125" b="0">
                <a:solidFill>
                  <a:srgbClr val="5E625D"/>
                </a:solidFill>
              </a:rPr>
              <a:t>API, banco, cálculo, upload e DPP rascunho.</a:t>
            </a:r>
          </a:p>
        </p:txBody>
      </p:sp>
      <p:sp>
        <p:nvSpPr>
          <p:cNvPr id="21" name="t3-top">
            <a:extLst xmlns:a="http://schemas.openxmlformats.org/drawingml/2006/main">
              <a:ext uri="{FF2B5EF4-FFF2-40B4-BE49-F238E27FC236}">
                <a16:creationId xmlns:a16="http://schemas.microsoft.com/office/drawing/2014/main" id="{C18D6A7E-643B-4969-8DC0-52FFAF00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09750"/>
            <a:ext cx="1924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3-panel">
            <a:extLst xmlns:a="http://schemas.openxmlformats.org/drawingml/2006/main">
              <a:ext uri="{FF2B5EF4-FFF2-40B4-BE49-F238E27FC236}">
                <a16:creationId xmlns:a16="http://schemas.microsoft.com/office/drawing/2014/main" id="{5F72C3A0-1708-4A23-8F04-DAA3DCFB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95475"/>
            <a:ext cx="19240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23" name="t3-phase">
            <a:extLst xmlns:a="http://schemas.openxmlformats.org/drawingml/2006/main">
              <a:ext uri="{FF2B5EF4-FFF2-40B4-BE49-F238E27FC236}">
                <a16:creationId xmlns:a16="http://schemas.microsoft.com/office/drawing/2014/main" id="{B4AB3763-29EC-4E90-A332-2981EF24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764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8A441"/>
                </a:solidFill>
              </a:defRPr>
            </a:pPr>
            <a:r>
              <a:rPr sz="1575" b="1">
                <a:solidFill>
                  <a:srgbClr val="D8A441"/>
                </a:solidFill>
              </a:rPr>
              <a:t>S7-9</a:t>
            </a:r>
          </a:p>
        </p:txBody>
      </p:sp>
      <p:sp>
        <p:nvSpPr>
          <p:cNvPr id="24" name="t3-date">
            <a:extLst xmlns:a="http://schemas.openxmlformats.org/drawingml/2006/main">
              <a:ext uri="{FF2B5EF4-FFF2-40B4-BE49-F238E27FC236}">
                <a16:creationId xmlns:a16="http://schemas.microsoft.com/office/drawing/2014/main" id="{07DFDAA7-7365-4FCB-A886-A57DB0C3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25D"/>
                </a:solidFill>
              </a:defRPr>
            </a:pPr>
            <a:r>
              <a:rPr sz="1125" b="1">
                <a:solidFill>
                  <a:srgbClr val="5E625D"/>
                </a:solidFill>
              </a:rPr>
              <a:t>10-28 ago</a:t>
            </a:r>
          </a:p>
        </p:txBody>
      </p:sp>
      <p:sp>
        <p:nvSpPr>
          <p:cNvPr id="25" name="t3-goal">
            <a:extLst xmlns:a="http://schemas.openxmlformats.org/drawingml/2006/main">
              <a:ext uri="{FF2B5EF4-FFF2-40B4-BE49-F238E27FC236}">
                <a16:creationId xmlns:a16="http://schemas.microsoft.com/office/drawing/2014/main" id="{44ADA9AE-6911-43E1-BB70-C81348EF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003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</a:defRPr>
            </a:pPr>
            <a:r>
              <a:rPr sz="1275" b="1">
                <a:solidFill>
                  <a:srgbClr val="151515"/>
                </a:solidFill>
              </a:rPr>
              <a:t>Studio + QR</a:t>
            </a:r>
          </a:p>
        </p:txBody>
      </p:sp>
      <p:sp>
        <p:nvSpPr>
          <p:cNvPr id="26" name="t3-output">
            <a:extLst xmlns:a="http://schemas.openxmlformats.org/drawingml/2006/main">
              <a:ext uri="{FF2B5EF4-FFF2-40B4-BE49-F238E27FC236}">
                <a16:creationId xmlns:a16="http://schemas.microsoft.com/office/drawing/2014/main" id="{43486719-02E8-467F-B1E2-CF5F3A84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290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D"/>
                </a:solidFill>
              </a:defRPr>
            </a:pPr>
            <a:r>
              <a:rPr sz="1125" b="0">
                <a:solidFill>
                  <a:srgbClr val="5E625D"/>
                </a:solidFill>
              </a:rPr>
              <a:t>Interface interna, preview de flashcards, QR e exportação.</a:t>
            </a:r>
          </a:p>
        </p:txBody>
      </p:sp>
      <p:sp>
        <p:nvSpPr>
          <p:cNvPr id="27" name="t4-top">
            <a:extLst xmlns:a="http://schemas.openxmlformats.org/drawingml/2006/main">
              <a:ext uri="{FF2B5EF4-FFF2-40B4-BE49-F238E27FC236}">
                <a16:creationId xmlns:a16="http://schemas.microsoft.com/office/drawing/2014/main" id="{01A1BEB0-7FE7-480B-B0FB-B294F822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09750"/>
            <a:ext cx="1924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4-panel">
            <a:extLst xmlns:a="http://schemas.openxmlformats.org/drawingml/2006/main">
              <a:ext uri="{FF2B5EF4-FFF2-40B4-BE49-F238E27FC236}">
                <a16:creationId xmlns:a16="http://schemas.microsoft.com/office/drawing/2014/main" id="{E224D5D9-48C3-4C00-BA04-DF57C779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95475"/>
            <a:ext cx="19240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29" name="t4-phase">
            <a:extLst xmlns:a="http://schemas.openxmlformats.org/drawingml/2006/main">
              <a:ext uri="{FF2B5EF4-FFF2-40B4-BE49-F238E27FC236}">
                <a16:creationId xmlns:a16="http://schemas.microsoft.com/office/drawing/2014/main" id="{A9D64A1A-A093-4D5D-845B-B050D769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764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S10-12</a:t>
            </a:r>
          </a:p>
        </p:txBody>
      </p:sp>
      <p:sp>
        <p:nvSpPr>
          <p:cNvPr id="30" name="t4-date">
            <a:extLst xmlns:a="http://schemas.openxmlformats.org/drawingml/2006/main">
              <a:ext uri="{FF2B5EF4-FFF2-40B4-BE49-F238E27FC236}">
                <a16:creationId xmlns:a16="http://schemas.microsoft.com/office/drawing/2014/main" id="{2262205D-5544-4DF3-B479-AF601D79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574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25D"/>
                </a:solidFill>
              </a:defRPr>
            </a:pPr>
            <a:r>
              <a:rPr sz="1125" b="1">
                <a:solidFill>
                  <a:srgbClr val="5E625D"/>
                </a:solidFill>
              </a:rPr>
              <a:t>31 ago-18 set</a:t>
            </a:r>
          </a:p>
        </p:txBody>
      </p:sp>
      <p:sp>
        <p:nvSpPr>
          <p:cNvPr id="31" name="t4-goal">
            <a:extLst xmlns:a="http://schemas.openxmlformats.org/drawingml/2006/main">
              <a:ext uri="{FF2B5EF4-FFF2-40B4-BE49-F238E27FC236}">
                <a16:creationId xmlns:a16="http://schemas.microsoft.com/office/drawing/2014/main" id="{B29E9CD6-7CDA-42E3-B9EB-B09BCC13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003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</a:defRPr>
            </a:pPr>
            <a:r>
              <a:rPr sz="1275" b="1">
                <a:solidFill>
                  <a:srgbClr val="151515"/>
                </a:solidFill>
              </a:rPr>
              <a:t>Piloto real</a:t>
            </a:r>
          </a:p>
        </p:txBody>
      </p:sp>
      <p:sp>
        <p:nvSpPr>
          <p:cNvPr id="32" name="t4-output">
            <a:extLst xmlns:a="http://schemas.openxmlformats.org/drawingml/2006/main">
              <a:ext uri="{FF2B5EF4-FFF2-40B4-BE49-F238E27FC236}">
                <a16:creationId xmlns:a16="http://schemas.microsoft.com/office/drawing/2014/main" id="{7587D5FB-6EB0-44FF-A261-36F2FD19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D"/>
                </a:solidFill>
              </a:defRPr>
            </a:pPr>
            <a:r>
              <a:rPr sz="1125" b="0">
                <a:solidFill>
                  <a:srgbClr val="5E625D"/>
                </a:solidFill>
              </a:rPr>
              <a:t>3-5 produtos reais, lacunas e decisão go/no-go.</a:t>
            </a:r>
          </a:p>
        </p:txBody>
      </p:sp>
      <p:sp>
        <p:nvSpPr>
          <p:cNvPr id="33" name="timeline-exit">
            <a:extLst xmlns:a="http://schemas.openxmlformats.org/drawingml/2006/main">
              <a:ext uri="{FF2B5EF4-FFF2-40B4-BE49-F238E27FC236}">
                <a16:creationId xmlns:a16="http://schemas.microsoft.com/office/drawing/2014/main" id="{55D780B2-003A-4375-89EA-CE1C3506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515"/>
                </a:solidFill>
              </a:defRPr>
            </a:pPr>
            <a:r>
              <a:rPr sz="1650" b="1">
                <a:solidFill>
                  <a:srgbClr val="151515"/>
                </a:solidFill>
              </a:rPr>
              <a:t>Marco de saída das 12 semanas: 5 DPPs rascunho gerados com dados reais, QR funcional e nenhuma claim ambiental publicada sem status de evidência.</a:t>
            </a:r>
          </a:p>
        </p:txBody>
      </p:sp>
      <p:sp>
        <p:nvSpPr>
          <p:cNvPr id="34" name="timeline-cadence-1-pill">
            <a:extLst xmlns:a="http://schemas.openxmlformats.org/drawingml/2006/main">
              <a:ext uri="{FF2B5EF4-FFF2-40B4-BE49-F238E27FC236}">
                <a16:creationId xmlns:a16="http://schemas.microsoft.com/office/drawing/2014/main" id="{6A5F0F4E-83D6-4A2D-A269-CDECA2AE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imeline-cadence-1-label">
            <a:extLst xmlns:a="http://schemas.openxmlformats.org/drawingml/2006/main">
              <a:ext uri="{FF2B5EF4-FFF2-40B4-BE49-F238E27FC236}">
                <a16:creationId xmlns:a16="http://schemas.microsoft.com/office/drawing/2014/main" id="{2626A714-BD0F-43A0-A72C-C42FB81B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6A4F"/>
                </a:solidFill>
              </a:defRPr>
            </a:pPr>
            <a:r>
              <a:rPr sz="975" b="1">
                <a:solidFill>
                  <a:srgbClr val="2D6A4F"/>
                </a:solidFill>
              </a:rPr>
              <a:t>segunda: prioridade</a:t>
            </a:r>
          </a:p>
        </p:txBody>
      </p:sp>
      <p:sp>
        <p:nvSpPr>
          <p:cNvPr id="36" name="timeline-cadence-2-pill">
            <a:extLst xmlns:a="http://schemas.openxmlformats.org/drawingml/2006/main">
              <a:ext uri="{FF2B5EF4-FFF2-40B4-BE49-F238E27FC236}">
                <a16:creationId xmlns:a16="http://schemas.microsoft.com/office/drawing/2014/main" id="{30948E87-69F9-4082-B2C2-09DB1027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769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imeline-cadence-2-label">
            <a:extLst xmlns:a="http://schemas.openxmlformats.org/drawingml/2006/main">
              <a:ext uri="{FF2B5EF4-FFF2-40B4-BE49-F238E27FC236}">
                <a16:creationId xmlns:a16="http://schemas.microsoft.com/office/drawing/2014/main" id="{EFD562D3-87AD-4885-ACFB-13CD01CD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3405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15E8A"/>
                </a:solidFill>
              </a:defRPr>
            </a:pPr>
            <a:r>
              <a:rPr sz="975" b="1">
                <a:solidFill>
                  <a:srgbClr val="315E8A"/>
                </a:solidFill>
              </a:rPr>
              <a:t>quarta: checkpoint técnico</a:t>
            </a:r>
          </a:p>
        </p:txBody>
      </p:sp>
      <p:sp>
        <p:nvSpPr>
          <p:cNvPr id="38" name="timeline-cadence-3-pill">
            <a:extLst xmlns:a="http://schemas.openxmlformats.org/drawingml/2006/main">
              <a:ext uri="{FF2B5EF4-FFF2-40B4-BE49-F238E27FC236}">
                <a16:creationId xmlns:a16="http://schemas.microsoft.com/office/drawing/2014/main" id="{9681ACE0-5C61-470B-BCBC-2934D58C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67690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imeline-cadence-3-label">
            <a:extLst xmlns:a="http://schemas.openxmlformats.org/drawingml/2006/main">
              <a:ext uri="{FF2B5EF4-FFF2-40B4-BE49-F238E27FC236}">
                <a16:creationId xmlns:a16="http://schemas.microsoft.com/office/drawing/2014/main" id="{2DC10A62-D13C-477F-87FC-D1A06286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73405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26B2B"/>
                </a:solidFill>
              </a:defRPr>
            </a:pPr>
            <a:r>
              <a:rPr sz="975" b="1">
                <a:solidFill>
                  <a:srgbClr val="B26B2B"/>
                </a:solidFill>
              </a:rPr>
              <a:t>sexta: demo + decisão</a:t>
            </a:r>
          </a:p>
        </p:txBody>
      </p:sp>
      <p:sp>
        <p:nvSpPr>
          <p:cNvPr id="40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C439435-72F5-4A9F-92E1-56015067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1C31509A-D2E7-4909-B384-83429FE4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25D"/>
                </a:solidFill>
              </a:defRPr>
            </a:pPr>
            <a:r>
              <a:rPr sz="900" b="1">
                <a:solidFill>
                  <a:srgbClr val="5E625D"/>
                </a:solidFill>
              </a:rPr>
              <a:t>PHYLLOS DPP Integrado</a:t>
            </a:r>
          </a:p>
        </p:txBody>
      </p:sp>
      <p:sp>
        <p:nvSpPr>
          <p:cNvPr id="4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217EDA9-85CF-4511-BC78-722A4ECF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25D"/>
                </a:solidFill>
              </a:defRPr>
            </a:pPr>
            <a:r>
              <a:rPr sz="1050" b="1">
                <a:solidFill>
                  <a:srgbClr val="5E625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967209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2A9A6DF2-D25C-4013-8547-8E4659E7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A4F"/>
                </a:solidFill>
              </a:defRPr>
            </a:pPr>
            <a:r>
              <a:rPr sz="1050" b="1">
                <a:solidFill>
                  <a:srgbClr val="2D6A4F"/>
                </a:solidFill>
              </a:rPr>
              <a:t>APÓS PILOTO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178006-00AF-46F0-B66A-533EECF3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1515"/>
                </a:solidFill>
              </a:defRPr>
            </a:pPr>
            <a:r>
              <a:rPr sz="3150" b="1">
                <a:solidFill>
                  <a:srgbClr val="151515"/>
                </a:solidFill>
              </a:rPr>
              <a:t>Evolução meses 4-8</a:t>
            </a:r>
          </a:p>
        </p:txBody>
      </p:sp>
      <p:sp>
        <p:nvSpPr>
          <p:cNvPr id="3" name="m45-bar">
            <a:extLst xmlns:a="http://schemas.openxmlformats.org/drawingml/2006/main">
              <a:ext uri="{FF2B5EF4-FFF2-40B4-BE49-F238E27FC236}">
                <a16:creationId xmlns:a16="http://schemas.microsoft.com/office/drawing/2014/main" id="{4BC553FC-56A9-405D-8F7A-52CC51AA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45-label">
            <a:extLst xmlns:a="http://schemas.openxmlformats.org/drawingml/2006/main">
              <a:ext uri="{FF2B5EF4-FFF2-40B4-BE49-F238E27FC236}">
                <a16:creationId xmlns:a16="http://schemas.microsoft.com/office/drawing/2014/main" id="{760710A2-B0FB-4B84-8AB4-FF37FB3B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D6A4F"/>
                </a:solidFill>
              </a:defRPr>
            </a:pPr>
            <a:r>
              <a:rPr sz="1350" b="1">
                <a:solidFill>
                  <a:srgbClr val="2D6A4F"/>
                </a:solidFill>
              </a:rPr>
              <a:t>Meses 4-5 | Beta privado</a:t>
            </a:r>
          </a:p>
        </p:txBody>
      </p:sp>
      <p:sp>
        <p:nvSpPr>
          <p:cNvPr id="5" name="m45-panel">
            <a:extLst xmlns:a="http://schemas.openxmlformats.org/drawingml/2006/main">
              <a:ext uri="{FF2B5EF4-FFF2-40B4-BE49-F238E27FC236}">
                <a16:creationId xmlns:a16="http://schemas.microsoft.com/office/drawing/2014/main" id="{EFFFCEFA-B96F-4E05-BE39-6499892F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6" name="m45-bullets">
            <a:extLst xmlns:a="http://schemas.openxmlformats.org/drawingml/2006/main">
              <a:ext uri="{FF2B5EF4-FFF2-40B4-BE49-F238E27FC236}">
                <a16:creationId xmlns:a16="http://schemas.microsoft.com/office/drawing/2014/main" id="{179793D5-4DA7-4AFA-B9A7-5B695A58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</a:defRPr>
            </a:pPr>
            <a:r>
              <a:rPr sz="1500" b="0">
                <a:solidFill>
                  <a:srgbClr val="151515"/>
                </a:solidFill>
              </a:rPr>
              <a:t>- Login simples e organização/empresa</a:t>
            </a:r>
          </a:p>
          <a:p xmlns:a="http://schemas.openxmlformats.org/drawingml/2006/main">
            <a:pPr algn="l">
              <a:defRPr sz="1500" b="0">
                <a:solidFill>
                  <a:srgbClr val="151515"/>
                </a:solidFill>
              </a:defRPr>
            </a:pPr>
            <a:r>
              <a:rPr sz="1500" b="0">
                <a:solidFill>
                  <a:srgbClr val="151515"/>
                </a:solidFill>
              </a:rPr>
              <a:t>- Permissões básicas e histórico de versões</a:t>
            </a:r>
          </a:p>
          <a:p xmlns:a="http://schemas.openxmlformats.org/drawingml/2006/main">
            <a:pPr algn="l">
              <a:defRPr sz="1500" b="0">
                <a:solidFill>
                  <a:srgbClr val="151515"/>
                </a:solidFill>
              </a:defRPr>
            </a:pPr>
            <a:r>
              <a:rPr sz="1500" b="0">
                <a:solidFill>
                  <a:srgbClr val="151515"/>
                </a:solidFill>
              </a:rPr>
              <a:t>- Storage de arquivos e logs de alteração</a:t>
            </a:r>
          </a:p>
          <a:p xmlns:a="http://schemas.openxmlformats.org/drawingml/2006/main">
            <a:pPr algn="l">
              <a:defRPr sz="1500" b="0">
                <a:solidFill>
                  <a:srgbClr val="151515"/>
                </a:solidFill>
              </a:defRPr>
            </a:pPr>
            <a:r>
              <a:rPr sz="1500" b="0">
                <a:solidFill>
                  <a:srgbClr val="151515"/>
                </a:solidFill>
              </a:rPr>
              <a:t>- Deploy controlado com 3 marcas/ateliês</a:t>
            </a:r>
          </a:p>
        </p:txBody>
      </p:sp>
      <p:sp>
        <p:nvSpPr>
          <p:cNvPr id="7" name="m45-gate">
            <a:extLst xmlns:a="http://schemas.openxmlformats.org/drawingml/2006/main">
              <a:ext uri="{FF2B5EF4-FFF2-40B4-BE49-F238E27FC236}">
                <a16:creationId xmlns:a16="http://schemas.microsoft.com/office/drawing/2014/main" id="{338E021D-57F8-4DBE-89D1-306610D6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411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6A4F"/>
                </a:solidFill>
              </a:defRPr>
            </a:pPr>
            <a:r>
              <a:rPr sz="1275" b="1">
                <a:solidFill>
                  <a:srgbClr val="2D6A4F"/>
                </a:solidFill>
              </a:rPr>
              <a:t>Critério: 20 DPPs gerados, custo mensal controlado e bugs críticos zerados antes de expandir.</a:t>
            </a:r>
          </a:p>
        </p:txBody>
      </p:sp>
      <p:sp>
        <p:nvSpPr>
          <p:cNvPr id="8" name="m68-bar">
            <a:extLst xmlns:a="http://schemas.openxmlformats.org/drawingml/2006/main">
              <a:ext uri="{FF2B5EF4-FFF2-40B4-BE49-F238E27FC236}">
                <a16:creationId xmlns:a16="http://schemas.microsoft.com/office/drawing/2014/main" id="{B2BAE2C5-F8E9-4DB9-96FA-32F6D84E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1450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68-label">
            <a:extLst xmlns:a="http://schemas.openxmlformats.org/drawingml/2006/main">
              <a:ext uri="{FF2B5EF4-FFF2-40B4-BE49-F238E27FC236}">
                <a16:creationId xmlns:a16="http://schemas.microsoft.com/office/drawing/2014/main" id="{0B5F6EB1-18E1-47D5-9C4C-B1B48CBB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66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E8A"/>
                </a:solidFill>
              </a:defRPr>
            </a:pPr>
            <a:r>
              <a:rPr sz="1350" b="1">
                <a:solidFill>
                  <a:srgbClr val="315E8A"/>
                </a:solidFill>
              </a:rPr>
              <a:t>Meses 6-8 | Parsers e integrações</a:t>
            </a:r>
          </a:p>
        </p:txBody>
      </p:sp>
      <p:sp>
        <p:nvSpPr>
          <p:cNvPr id="10" name="m68-panel">
            <a:extLst xmlns:a="http://schemas.openxmlformats.org/drawingml/2006/main">
              <a:ext uri="{FF2B5EF4-FFF2-40B4-BE49-F238E27FC236}">
                <a16:creationId xmlns:a16="http://schemas.microsoft.com/office/drawing/2014/main" id="{369E3D48-1511-44E3-B35F-BEB81F0F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479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11" name="m68-bullets">
            <a:extLst xmlns:a="http://schemas.openxmlformats.org/drawingml/2006/main">
              <a:ext uri="{FF2B5EF4-FFF2-40B4-BE49-F238E27FC236}">
                <a16:creationId xmlns:a16="http://schemas.microsoft.com/office/drawing/2014/main" id="{B231D8C4-C341-4668-A805-2D1FC79E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5270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</a:defRPr>
            </a:pPr>
            <a:r>
              <a:rPr sz="1500" b="0">
                <a:solidFill>
                  <a:srgbClr val="151515"/>
                </a:solidFill>
              </a:rPr>
              <a:t>- Parser CSV/XLSX de encaixe</a:t>
            </a:r>
          </a:p>
          <a:p xmlns:a="http://schemas.openxmlformats.org/drawingml/2006/main">
            <a:pPr algn="l">
              <a:defRPr sz="1500" b="0">
                <a:solidFill>
                  <a:srgbClr val="151515"/>
                </a:solidFill>
              </a:defRPr>
            </a:pPr>
            <a:r>
              <a:rPr sz="1500" b="0">
                <a:solidFill>
                  <a:srgbClr val="151515"/>
                </a:solidFill>
              </a:rPr>
              <a:t>- Importação padrão de ficha técnica</a:t>
            </a:r>
          </a:p>
          <a:p xmlns:a="http://schemas.openxmlformats.org/drawingml/2006/main">
            <a:pPr algn="l">
              <a:defRPr sz="1500" b="0">
                <a:solidFill>
                  <a:srgbClr val="151515"/>
                </a:solidFill>
              </a:defRPr>
            </a:pPr>
            <a:r>
              <a:rPr sz="1500" b="0">
                <a:solidFill>
                  <a:srgbClr val="151515"/>
                </a:solidFill>
              </a:rPr>
              <a:t>- PDF estruturado parcial</a:t>
            </a:r>
          </a:p>
          <a:p xmlns:a="http://schemas.openxmlformats.org/drawingml/2006/main">
            <a:pPr algn="l">
              <a:defRPr sz="1500" b="0">
                <a:solidFill>
                  <a:srgbClr val="151515"/>
                </a:solidFill>
              </a:defRPr>
            </a:pPr>
            <a:r>
              <a:rPr sz="1500" b="0">
                <a:solidFill>
                  <a:srgbClr val="151515"/>
                </a:solidFill>
              </a:rPr>
              <a:t>- API externa e conectores documentados</a:t>
            </a:r>
          </a:p>
        </p:txBody>
      </p:sp>
      <p:sp>
        <p:nvSpPr>
          <p:cNvPr id="12" name="m68-gate">
            <a:extLst xmlns:a="http://schemas.openxmlformats.org/drawingml/2006/main">
              <a:ext uri="{FF2B5EF4-FFF2-40B4-BE49-F238E27FC236}">
                <a16:creationId xmlns:a16="http://schemas.microsoft.com/office/drawing/2014/main" id="{A99902A6-B240-4571-AF21-7FE57718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95750"/>
            <a:ext cx="411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E8A"/>
                </a:solidFill>
              </a:defRPr>
            </a:pPr>
            <a:r>
              <a:rPr sz="1275" b="1">
                <a:solidFill>
                  <a:srgbClr val="315E8A"/>
                </a:solidFill>
              </a:rPr>
              <a:t>Critério: importar 2 formatos reais recorrentes e reduzir tempo de criação de DPP em 50%.</a:t>
            </a:r>
          </a:p>
        </p:txBody>
      </p:sp>
      <p:sp>
        <p:nvSpPr>
          <p:cNvPr id="13" name="months-date-translation">
            <a:extLst xmlns:a="http://schemas.openxmlformats.org/drawingml/2006/main">
              <a:ext uri="{FF2B5EF4-FFF2-40B4-BE49-F238E27FC236}">
                <a16:creationId xmlns:a16="http://schemas.microsoft.com/office/drawing/2014/main" id="{64110949-3018-4CE3-A7BF-F6613A9F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25D"/>
                </a:solidFill>
              </a:defRPr>
            </a:pPr>
            <a:r>
              <a:rPr sz="1575" b="0">
                <a:solidFill>
                  <a:srgbClr val="5E625D"/>
                </a:solidFill>
              </a:rPr>
              <a:t>Tradução em datas, se mantido o início de 29/06: beta em out.-nov. 2026; parsers e integrações entre dez. 2026 e fev. 2027.</a:t>
            </a:r>
          </a:p>
        </p:txBody>
      </p:sp>
      <p:sp>
        <p:nvSpPr>
          <p:cNvPr id="1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3709974C-E1C4-4FDE-B658-C2E98042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07E37A2C-26CD-4D9F-B725-BB785FFE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25D"/>
                </a:solidFill>
              </a:defRPr>
            </a:pPr>
            <a:r>
              <a:rPr sz="900" b="1">
                <a:solidFill>
                  <a:srgbClr val="5E625D"/>
                </a:solidFill>
              </a:rPr>
              <a:t>PHYLLOS DPP Integrado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AC357B9-AACA-42FA-BDB3-BD433AED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25D"/>
                </a:solidFill>
              </a:defRPr>
            </a:pPr>
            <a:r>
              <a:rPr sz="1050" b="1">
                <a:solidFill>
                  <a:srgbClr val="5E625D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748570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D089F72-269E-4804-A18D-6071FF39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A4F"/>
                </a:solidFill>
              </a:defRPr>
            </a:pPr>
            <a:r>
              <a:rPr sz="1050" b="1">
                <a:solidFill>
                  <a:srgbClr val="2D6A4F"/>
                </a:solidFill>
              </a:rPr>
              <a:t>LIDERANÇAS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2661E3-2DAA-4521-902F-8CD95C49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1515"/>
                </a:solidFill>
              </a:defRPr>
            </a:pPr>
            <a:r>
              <a:rPr sz="3150" b="1">
                <a:solidFill>
                  <a:srgbClr val="151515"/>
                </a:solidFill>
              </a:rPr>
              <a:t>Donos e entregáveis</a:t>
            </a:r>
          </a:p>
        </p:txBody>
      </p:sp>
      <p:sp>
        <p:nvSpPr>
          <p:cNvPr id="3" name="owner-0">
            <a:extLst xmlns:a="http://schemas.openxmlformats.org/drawingml/2006/main">
              <a:ext uri="{FF2B5EF4-FFF2-40B4-BE49-F238E27FC236}">
                <a16:creationId xmlns:a16="http://schemas.microsoft.com/office/drawing/2014/main" id="{B61FF2D9-9D4E-4264-BBD1-BA792330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342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4" name="owner-mark-0">
            <a:extLst xmlns:a="http://schemas.openxmlformats.org/drawingml/2006/main">
              <a:ext uri="{FF2B5EF4-FFF2-40B4-BE49-F238E27FC236}">
                <a16:creationId xmlns:a16="http://schemas.microsoft.com/office/drawing/2014/main" id="{EC7B3205-DCC7-4A82-9CC0-D3964AB2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171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wner-leader-0">
            <a:extLst xmlns:a="http://schemas.openxmlformats.org/drawingml/2006/main">
              <a:ext uri="{FF2B5EF4-FFF2-40B4-BE49-F238E27FC236}">
                <a16:creationId xmlns:a16="http://schemas.microsoft.com/office/drawing/2014/main" id="{4F0765DE-9998-4D67-AC4E-D2FC1CBE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954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Founder</a:t>
            </a:r>
          </a:p>
        </p:txBody>
      </p:sp>
      <p:sp>
        <p:nvSpPr>
          <p:cNvPr id="6" name="owner-role-0">
            <a:extLst xmlns:a="http://schemas.openxmlformats.org/drawingml/2006/main">
              <a:ext uri="{FF2B5EF4-FFF2-40B4-BE49-F238E27FC236}">
                <a16:creationId xmlns:a16="http://schemas.microsoft.com/office/drawing/2014/main" id="{3BD49FE5-5651-4A13-B7DC-31EF7E31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621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Sequência, cortes, go/no-go</a:t>
            </a:r>
          </a:p>
        </p:txBody>
      </p:sp>
      <p:sp>
        <p:nvSpPr>
          <p:cNvPr id="7" name="owner-deliv-0">
            <a:extLst xmlns:a="http://schemas.openxmlformats.org/drawingml/2006/main">
              <a:ext uri="{FF2B5EF4-FFF2-40B4-BE49-F238E27FC236}">
                <a16:creationId xmlns:a16="http://schemas.microsoft.com/office/drawing/2014/main" id="{8241B2A7-DB27-4423-B32E-E66F3872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02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25D"/>
                </a:solidFill>
              </a:defRPr>
            </a:pPr>
            <a:r>
              <a:rPr sz="1125" b="1">
                <a:solidFill>
                  <a:srgbClr val="5E625D"/>
                </a:solidFill>
              </a:rPr>
              <a:t>cadência semanal</a:t>
            </a:r>
          </a:p>
        </p:txBody>
      </p:sp>
      <p:sp>
        <p:nvSpPr>
          <p:cNvPr id="8" name="owner-1">
            <a:extLst xmlns:a="http://schemas.openxmlformats.org/drawingml/2006/main">
              <a:ext uri="{FF2B5EF4-FFF2-40B4-BE49-F238E27FC236}">
                <a16:creationId xmlns:a16="http://schemas.microsoft.com/office/drawing/2014/main" id="{643D4286-F6AC-4057-987A-7DCB8DC6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43050"/>
            <a:ext cx="342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9" name="owner-mark-1">
            <a:extLst xmlns:a="http://schemas.openxmlformats.org/drawingml/2006/main">
              <a:ext uri="{FF2B5EF4-FFF2-40B4-BE49-F238E27FC236}">
                <a16:creationId xmlns:a16="http://schemas.microsoft.com/office/drawing/2014/main" id="{CC758A10-761F-4B35-AFF0-F0F8A20F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33550"/>
            <a:ext cx="171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wner-leader-1">
            <a:extLst xmlns:a="http://schemas.openxmlformats.org/drawingml/2006/main">
              <a:ext uri="{FF2B5EF4-FFF2-40B4-BE49-F238E27FC236}">
                <a16:creationId xmlns:a16="http://schemas.microsoft.com/office/drawing/2014/main" id="{60A99A38-E35B-4394-99B7-11D2CD5E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954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6A4F"/>
                </a:solidFill>
              </a:defRPr>
            </a:pPr>
            <a:r>
              <a:rPr sz="1500" b="1">
                <a:solidFill>
                  <a:srgbClr val="2D6A4F"/>
                </a:solidFill>
              </a:rPr>
              <a:t>Product</a:t>
            </a:r>
          </a:p>
        </p:txBody>
      </p:sp>
      <p:sp>
        <p:nvSpPr>
          <p:cNvPr id="11" name="owner-role-1">
            <a:extLst xmlns:a="http://schemas.openxmlformats.org/drawingml/2006/main">
              <a:ext uri="{FF2B5EF4-FFF2-40B4-BE49-F238E27FC236}">
                <a16:creationId xmlns:a16="http://schemas.microsoft.com/office/drawing/2014/main" id="{259BB172-7DB8-46E7-AF12-E80ACE27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ICP, jornada, escopo, aceite</a:t>
            </a:r>
          </a:p>
        </p:txBody>
      </p:sp>
      <p:sp>
        <p:nvSpPr>
          <p:cNvPr id="12" name="owner-deliv-1">
            <a:extLst xmlns:a="http://schemas.openxmlformats.org/drawingml/2006/main">
              <a:ext uri="{FF2B5EF4-FFF2-40B4-BE49-F238E27FC236}">
                <a16:creationId xmlns:a16="http://schemas.microsoft.com/office/drawing/2014/main" id="{A25B2ED3-4E81-4F50-85C9-C4FEE1F8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002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25D"/>
                </a:solidFill>
              </a:defRPr>
            </a:pPr>
            <a:r>
              <a:rPr sz="1125" b="1">
                <a:solidFill>
                  <a:srgbClr val="5E625D"/>
                </a:solidFill>
              </a:rPr>
              <a:t>PRD DPP Integrado</a:t>
            </a:r>
          </a:p>
        </p:txBody>
      </p:sp>
      <p:sp>
        <p:nvSpPr>
          <p:cNvPr id="13" name="owner-2">
            <a:extLst xmlns:a="http://schemas.openxmlformats.org/drawingml/2006/main">
              <a:ext uri="{FF2B5EF4-FFF2-40B4-BE49-F238E27FC236}">
                <a16:creationId xmlns:a16="http://schemas.microsoft.com/office/drawing/2014/main" id="{C3E1C4F3-34A6-4294-A555-00EC2AC9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43050"/>
            <a:ext cx="342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14" name="owner-mark-2">
            <a:extLst xmlns:a="http://schemas.openxmlformats.org/drawingml/2006/main">
              <a:ext uri="{FF2B5EF4-FFF2-40B4-BE49-F238E27FC236}">
                <a16:creationId xmlns:a16="http://schemas.microsoft.com/office/drawing/2014/main" id="{5FC287E4-1E22-44E9-BDCE-43ED3D48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33550"/>
            <a:ext cx="171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wner-leader-2">
            <a:extLst xmlns:a="http://schemas.openxmlformats.org/drawingml/2006/main">
              <a:ext uri="{FF2B5EF4-FFF2-40B4-BE49-F238E27FC236}">
                <a16:creationId xmlns:a16="http://schemas.microsoft.com/office/drawing/2014/main" id="{3C625341-E26C-4B53-B6DF-A49F8BAB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954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E8A"/>
                </a:solidFill>
              </a:defRPr>
            </a:pPr>
            <a:r>
              <a:rPr sz="1500" b="1">
                <a:solidFill>
                  <a:srgbClr val="315E8A"/>
                </a:solidFill>
              </a:rPr>
              <a:t>Technology</a:t>
            </a:r>
          </a:p>
        </p:txBody>
      </p:sp>
      <p:sp>
        <p:nvSpPr>
          <p:cNvPr id="16" name="owner-role-2">
            <a:extLst xmlns:a="http://schemas.openxmlformats.org/drawingml/2006/main">
              <a:ext uri="{FF2B5EF4-FFF2-40B4-BE49-F238E27FC236}">
                <a16:creationId xmlns:a16="http://schemas.microsoft.com/office/drawing/2014/main" id="{223159D6-879C-49D6-BBB2-156F4FAF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621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Stack, segurança, APIs</a:t>
            </a:r>
          </a:p>
        </p:txBody>
      </p:sp>
      <p:sp>
        <p:nvSpPr>
          <p:cNvPr id="17" name="owner-deliv-2">
            <a:extLst xmlns:a="http://schemas.openxmlformats.org/drawingml/2006/main">
              <a:ext uri="{FF2B5EF4-FFF2-40B4-BE49-F238E27FC236}">
                <a16:creationId xmlns:a16="http://schemas.microsoft.com/office/drawing/2014/main" id="{617A3776-F163-4CCD-8A5E-46C19AAF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002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25D"/>
                </a:solidFill>
              </a:defRPr>
            </a:pPr>
            <a:r>
              <a:rPr sz="1125" b="1">
                <a:solidFill>
                  <a:srgbClr val="5E625D"/>
                </a:solidFill>
              </a:rPr>
              <a:t>arquitetura + backlog</a:t>
            </a:r>
          </a:p>
        </p:txBody>
      </p:sp>
      <p:sp>
        <p:nvSpPr>
          <p:cNvPr id="18" name="owner-3">
            <a:extLst xmlns:a="http://schemas.openxmlformats.org/drawingml/2006/main">
              <a:ext uri="{FF2B5EF4-FFF2-40B4-BE49-F238E27FC236}">
                <a16:creationId xmlns:a16="http://schemas.microsoft.com/office/drawing/2014/main" id="{2DD80403-762A-477B-8F49-03A871A2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95600"/>
            <a:ext cx="342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19" name="owner-mark-3">
            <a:extLst xmlns:a="http://schemas.openxmlformats.org/drawingml/2006/main">
              <a:ext uri="{FF2B5EF4-FFF2-40B4-BE49-F238E27FC236}">
                <a16:creationId xmlns:a16="http://schemas.microsoft.com/office/drawing/2014/main" id="{B574CE70-E9B2-4311-AF1E-BEA69C9D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71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wner-leader-3">
            <a:extLst xmlns:a="http://schemas.openxmlformats.org/drawingml/2006/main">
              <a:ext uri="{FF2B5EF4-FFF2-40B4-BE49-F238E27FC236}">
                <a16:creationId xmlns:a16="http://schemas.microsoft.com/office/drawing/2014/main" id="{9B6754A5-27FC-42C7-BA18-81DF7783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26B2B"/>
                </a:solidFill>
              </a:defRPr>
            </a:pPr>
            <a:r>
              <a:rPr sz="1500" b="1">
                <a:solidFill>
                  <a:srgbClr val="B26B2B"/>
                </a:solidFill>
              </a:rPr>
              <a:t>Digital</a:t>
            </a:r>
          </a:p>
        </p:txBody>
      </p:sp>
      <p:sp>
        <p:nvSpPr>
          <p:cNvPr id="21" name="owner-role-3">
            <a:extLst xmlns:a="http://schemas.openxmlformats.org/drawingml/2006/main">
              <a:ext uri="{FF2B5EF4-FFF2-40B4-BE49-F238E27FC236}">
                <a16:creationId xmlns:a16="http://schemas.microsoft.com/office/drawing/2014/main" id="{BBA5E2CE-F0E2-4EC0-B028-D6ACD59C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UX do Studio e flashcards</a:t>
            </a:r>
          </a:p>
        </p:txBody>
      </p:sp>
      <p:sp>
        <p:nvSpPr>
          <p:cNvPr id="22" name="owner-deliv-3">
            <a:extLst xmlns:a="http://schemas.openxmlformats.org/drawingml/2006/main">
              <a:ext uri="{FF2B5EF4-FFF2-40B4-BE49-F238E27FC236}">
                <a16:creationId xmlns:a16="http://schemas.microsoft.com/office/drawing/2014/main" id="{27A6B14A-0758-4A7F-B11C-D46DBAF3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528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25D"/>
                </a:solidFill>
              </a:defRPr>
            </a:pPr>
            <a:r>
              <a:rPr sz="1125" b="1">
                <a:solidFill>
                  <a:srgbClr val="5E625D"/>
                </a:solidFill>
              </a:rPr>
              <a:t>fluxo navegável</a:t>
            </a:r>
          </a:p>
        </p:txBody>
      </p:sp>
      <p:sp>
        <p:nvSpPr>
          <p:cNvPr id="23" name="owner-4">
            <a:extLst xmlns:a="http://schemas.openxmlformats.org/drawingml/2006/main">
              <a:ext uri="{FF2B5EF4-FFF2-40B4-BE49-F238E27FC236}">
                <a16:creationId xmlns:a16="http://schemas.microsoft.com/office/drawing/2014/main" id="{D5628B88-438A-46D7-ADFB-613CC8BA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95600"/>
            <a:ext cx="342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24" name="owner-mark-4">
            <a:extLst xmlns:a="http://schemas.openxmlformats.org/drawingml/2006/main">
              <a:ext uri="{FF2B5EF4-FFF2-40B4-BE49-F238E27FC236}">
                <a16:creationId xmlns:a16="http://schemas.microsoft.com/office/drawing/2014/main" id="{06246BA9-A855-4373-89B4-F684463E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86100"/>
            <a:ext cx="171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wner-leader-4">
            <a:extLst xmlns:a="http://schemas.openxmlformats.org/drawingml/2006/main">
              <a:ext uri="{FF2B5EF4-FFF2-40B4-BE49-F238E27FC236}">
                <a16:creationId xmlns:a16="http://schemas.microsoft.com/office/drawing/2014/main" id="{0C4B1EC1-47F5-4CD6-8E37-EE47460C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480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E8A"/>
                </a:solidFill>
              </a:defRPr>
            </a:pPr>
            <a:r>
              <a:rPr sz="1500" b="1">
                <a:solidFill>
                  <a:srgbClr val="315E8A"/>
                </a:solidFill>
              </a:rPr>
              <a:t>Data</a:t>
            </a:r>
          </a:p>
        </p:txBody>
      </p:sp>
      <p:sp>
        <p:nvSpPr>
          <p:cNvPr id="26" name="owner-role-4">
            <a:extLst xmlns:a="http://schemas.openxmlformats.org/drawingml/2006/main">
              <a:ext uri="{FF2B5EF4-FFF2-40B4-BE49-F238E27FC236}">
                <a16:creationId xmlns:a16="http://schemas.microsoft.com/office/drawing/2014/main" id="{85E3E798-35A6-41C7-A06C-735CB297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147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Modelo, dicionário e métricas</a:t>
            </a:r>
          </a:p>
        </p:txBody>
      </p:sp>
      <p:sp>
        <p:nvSpPr>
          <p:cNvPr id="27" name="owner-deliv-4">
            <a:extLst xmlns:a="http://schemas.openxmlformats.org/drawingml/2006/main">
              <a:ext uri="{FF2B5EF4-FFF2-40B4-BE49-F238E27FC236}">
                <a16:creationId xmlns:a16="http://schemas.microsoft.com/office/drawing/2014/main" id="{F23B42A6-4184-44E0-8B71-3A0A2704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528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25D"/>
                </a:solidFill>
              </a:defRPr>
            </a:pPr>
            <a:r>
              <a:rPr sz="1125" b="1">
                <a:solidFill>
                  <a:srgbClr val="5E625D"/>
                </a:solidFill>
              </a:rPr>
              <a:t>schema + data dictionary</a:t>
            </a:r>
          </a:p>
        </p:txBody>
      </p:sp>
      <p:sp>
        <p:nvSpPr>
          <p:cNvPr id="28" name="owner-5">
            <a:extLst xmlns:a="http://schemas.openxmlformats.org/drawingml/2006/main">
              <a:ext uri="{FF2B5EF4-FFF2-40B4-BE49-F238E27FC236}">
                <a16:creationId xmlns:a16="http://schemas.microsoft.com/office/drawing/2014/main" id="{BED6E79D-4331-46EF-9B0B-957B1BE2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342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29" name="owner-mark-5">
            <a:extLst xmlns:a="http://schemas.openxmlformats.org/drawingml/2006/main">
              <a:ext uri="{FF2B5EF4-FFF2-40B4-BE49-F238E27FC236}">
                <a16:creationId xmlns:a16="http://schemas.microsoft.com/office/drawing/2014/main" id="{8833199A-96C5-4039-9F2B-5C3C583A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86100"/>
            <a:ext cx="171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owner-leader-5">
            <a:extLst xmlns:a="http://schemas.openxmlformats.org/drawingml/2006/main">
              <a:ext uri="{FF2B5EF4-FFF2-40B4-BE49-F238E27FC236}">
                <a16:creationId xmlns:a16="http://schemas.microsoft.com/office/drawing/2014/main" id="{3D867D03-F9C4-4051-BD94-580ED204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480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6A4F"/>
                </a:solidFill>
              </a:defRPr>
            </a:pPr>
            <a:r>
              <a:rPr sz="1500" b="1">
                <a:solidFill>
                  <a:srgbClr val="2D6A4F"/>
                </a:solidFill>
              </a:rPr>
              <a:t>Materials</a:t>
            </a:r>
          </a:p>
        </p:txBody>
      </p:sp>
      <p:sp>
        <p:nvSpPr>
          <p:cNvPr id="31" name="owner-role-5">
            <a:extLst xmlns:a="http://schemas.openxmlformats.org/drawingml/2006/main">
              <a:ext uri="{FF2B5EF4-FFF2-40B4-BE49-F238E27FC236}">
                <a16:creationId xmlns:a16="http://schemas.microsoft.com/office/drawing/2014/main" id="{C6586AEA-6161-4C92-89C7-E6BD4E70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147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Fatores, evidências, método</a:t>
            </a:r>
          </a:p>
        </p:txBody>
      </p:sp>
      <p:sp>
        <p:nvSpPr>
          <p:cNvPr id="32" name="owner-deliv-5">
            <a:extLst xmlns:a="http://schemas.openxmlformats.org/drawingml/2006/main">
              <a:ext uri="{FF2B5EF4-FFF2-40B4-BE49-F238E27FC236}">
                <a16:creationId xmlns:a16="http://schemas.microsoft.com/office/drawing/2014/main" id="{F91D529D-119C-4683-8F03-2A90D393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528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25D"/>
                </a:solidFill>
              </a:defRPr>
            </a:pPr>
            <a:r>
              <a:rPr sz="1125" b="1">
                <a:solidFill>
                  <a:srgbClr val="5E625D"/>
                </a:solidFill>
              </a:rPr>
              <a:t>matriz de indicadores</a:t>
            </a:r>
          </a:p>
        </p:txBody>
      </p:sp>
      <p:sp>
        <p:nvSpPr>
          <p:cNvPr id="33" name="owner-6">
            <a:extLst xmlns:a="http://schemas.openxmlformats.org/drawingml/2006/main">
              <a:ext uri="{FF2B5EF4-FFF2-40B4-BE49-F238E27FC236}">
                <a16:creationId xmlns:a16="http://schemas.microsoft.com/office/drawing/2014/main" id="{194A65FB-5ECA-45D3-BD10-138330C0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48150"/>
            <a:ext cx="342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34" name="owner-mark-6">
            <a:extLst xmlns:a="http://schemas.openxmlformats.org/drawingml/2006/main">
              <a:ext uri="{FF2B5EF4-FFF2-40B4-BE49-F238E27FC236}">
                <a16:creationId xmlns:a16="http://schemas.microsoft.com/office/drawing/2014/main" id="{DB6432FD-70A3-48CB-99D2-3E40220E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171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owner-leader-6">
            <a:extLst xmlns:a="http://schemas.openxmlformats.org/drawingml/2006/main">
              <a:ext uri="{FF2B5EF4-FFF2-40B4-BE49-F238E27FC236}">
                <a16:creationId xmlns:a16="http://schemas.microsoft.com/office/drawing/2014/main" id="{7E3D5316-CDD1-4264-B7CC-1FFA3A14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26B2B"/>
                </a:solidFill>
              </a:defRPr>
            </a:pPr>
            <a:r>
              <a:rPr sz="1500" b="1">
                <a:solidFill>
                  <a:srgbClr val="B26B2B"/>
                </a:solidFill>
              </a:rPr>
              <a:t>Supply/Ops</a:t>
            </a:r>
          </a:p>
        </p:txBody>
      </p:sp>
      <p:sp>
        <p:nvSpPr>
          <p:cNvPr id="36" name="owner-role-6">
            <a:extLst xmlns:a="http://schemas.openxmlformats.org/drawingml/2006/main">
              <a:ext uri="{FF2B5EF4-FFF2-40B4-BE49-F238E27FC236}">
                <a16:creationId xmlns:a16="http://schemas.microsoft.com/office/drawing/2014/main" id="{7F3CDB23-3941-490C-B83B-5F6DF987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Lote, área, perda, processo</a:t>
            </a:r>
          </a:p>
        </p:txBody>
      </p:sp>
      <p:sp>
        <p:nvSpPr>
          <p:cNvPr id="37" name="owner-deliv-6">
            <a:extLst xmlns:a="http://schemas.openxmlformats.org/drawingml/2006/main">
              <a:ext uri="{FF2B5EF4-FFF2-40B4-BE49-F238E27FC236}">
                <a16:creationId xmlns:a16="http://schemas.microsoft.com/office/drawing/2014/main" id="{20F7B686-D315-4B2E-B35B-184084AA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053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25D"/>
                </a:solidFill>
              </a:defRPr>
            </a:pPr>
            <a:r>
              <a:rPr sz="1125" b="1">
                <a:solidFill>
                  <a:srgbClr val="5E625D"/>
                </a:solidFill>
              </a:rPr>
              <a:t>fluxo operacional</a:t>
            </a:r>
          </a:p>
        </p:txBody>
      </p:sp>
      <p:sp>
        <p:nvSpPr>
          <p:cNvPr id="38" name="owner-7">
            <a:extLst xmlns:a="http://schemas.openxmlformats.org/drawingml/2006/main">
              <a:ext uri="{FF2B5EF4-FFF2-40B4-BE49-F238E27FC236}">
                <a16:creationId xmlns:a16="http://schemas.microsoft.com/office/drawing/2014/main" id="{C883DAA5-399F-4B0A-8DBF-CD6A3D19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48150"/>
            <a:ext cx="342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39" name="owner-mark-7">
            <a:extLst xmlns:a="http://schemas.openxmlformats.org/drawingml/2006/main">
              <a:ext uri="{FF2B5EF4-FFF2-40B4-BE49-F238E27FC236}">
                <a16:creationId xmlns:a16="http://schemas.microsoft.com/office/drawing/2014/main" id="{D9B0681A-0155-4384-9230-DEC315BF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38650"/>
            <a:ext cx="171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4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owner-leader-7">
            <a:extLst xmlns:a="http://schemas.openxmlformats.org/drawingml/2006/main">
              <a:ext uri="{FF2B5EF4-FFF2-40B4-BE49-F238E27FC236}">
                <a16:creationId xmlns:a16="http://schemas.microsoft.com/office/drawing/2014/main" id="{2AB4127B-DBFA-4BE9-A92D-3B8C4E97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005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0473B"/>
                </a:solidFill>
              </a:defRPr>
            </a:pPr>
            <a:r>
              <a:rPr sz="1500" b="1">
                <a:solidFill>
                  <a:srgbClr val="A0473B"/>
                </a:solidFill>
              </a:rPr>
              <a:t>QA</a:t>
            </a:r>
          </a:p>
        </p:txBody>
      </p:sp>
      <p:sp>
        <p:nvSpPr>
          <p:cNvPr id="41" name="owner-role-7">
            <a:extLst xmlns:a="http://schemas.openxmlformats.org/drawingml/2006/main">
              <a:ext uri="{FF2B5EF4-FFF2-40B4-BE49-F238E27FC236}">
                <a16:creationId xmlns:a16="http://schemas.microsoft.com/office/drawing/2014/main" id="{C3896E87-2EC7-4B91-9805-DD49CE62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6672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Testes, acessibilidade, regressão</a:t>
            </a:r>
          </a:p>
        </p:txBody>
      </p:sp>
      <p:sp>
        <p:nvSpPr>
          <p:cNvPr id="42" name="owner-deliv-7">
            <a:extLst xmlns:a="http://schemas.openxmlformats.org/drawingml/2006/main">
              <a:ext uri="{FF2B5EF4-FFF2-40B4-BE49-F238E27FC236}">
                <a16:creationId xmlns:a16="http://schemas.microsoft.com/office/drawing/2014/main" id="{91225A91-9BB7-48AA-BBBD-6551FB02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9053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25D"/>
                </a:solidFill>
              </a:defRPr>
            </a:pPr>
            <a:r>
              <a:rPr sz="1125" b="1">
                <a:solidFill>
                  <a:srgbClr val="5E625D"/>
                </a:solidFill>
              </a:rPr>
              <a:t>suite mínima + go/no-go</a:t>
            </a:r>
          </a:p>
        </p:txBody>
      </p:sp>
      <p:sp>
        <p:nvSpPr>
          <p:cNvPr id="43" name="owner-8">
            <a:extLst xmlns:a="http://schemas.openxmlformats.org/drawingml/2006/main">
              <a:ext uri="{FF2B5EF4-FFF2-40B4-BE49-F238E27FC236}">
                <a16:creationId xmlns:a16="http://schemas.microsoft.com/office/drawing/2014/main" id="{1A4D3DCB-40DA-4832-B860-85C03E94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48150"/>
            <a:ext cx="342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44" name="owner-mark-8">
            <a:extLst xmlns:a="http://schemas.openxmlformats.org/drawingml/2006/main">
              <a:ext uri="{FF2B5EF4-FFF2-40B4-BE49-F238E27FC236}">
                <a16:creationId xmlns:a16="http://schemas.microsoft.com/office/drawing/2014/main" id="{4AA9EEF9-FFB0-48F0-86F1-1A268B12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38650"/>
            <a:ext cx="171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owner-leader-8">
            <a:extLst xmlns:a="http://schemas.openxmlformats.org/drawingml/2006/main">
              <a:ext uri="{FF2B5EF4-FFF2-40B4-BE49-F238E27FC236}">
                <a16:creationId xmlns:a16="http://schemas.microsoft.com/office/drawing/2014/main" id="{94698C8A-88AA-4954-AE49-4A5838C1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005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A441"/>
                </a:solidFill>
              </a:defRPr>
            </a:pPr>
            <a:r>
              <a:rPr sz="1500" b="1">
                <a:solidFill>
                  <a:srgbClr val="D8A441"/>
                </a:solidFill>
              </a:rPr>
              <a:t>CFO</a:t>
            </a:r>
          </a:p>
        </p:txBody>
      </p:sp>
      <p:sp>
        <p:nvSpPr>
          <p:cNvPr id="46" name="owner-role-8">
            <a:extLst xmlns:a="http://schemas.openxmlformats.org/drawingml/2006/main">
              <a:ext uri="{FF2B5EF4-FFF2-40B4-BE49-F238E27FC236}">
                <a16:creationId xmlns:a16="http://schemas.microsoft.com/office/drawing/2014/main" id="{AF29F604-B415-447E-9551-E23D15E0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672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Custo, runway, payback</a:t>
            </a:r>
          </a:p>
        </p:txBody>
      </p:sp>
      <p:sp>
        <p:nvSpPr>
          <p:cNvPr id="47" name="owner-deliv-8">
            <a:extLst xmlns:a="http://schemas.openxmlformats.org/drawingml/2006/main">
              <a:ext uri="{FF2B5EF4-FFF2-40B4-BE49-F238E27FC236}">
                <a16:creationId xmlns:a16="http://schemas.microsoft.com/office/drawing/2014/main" id="{F8E78E3C-8C17-4093-9552-ECA119E1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053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25D"/>
                </a:solidFill>
              </a:defRPr>
            </a:pPr>
            <a:r>
              <a:rPr sz="1125" b="1">
                <a:solidFill>
                  <a:srgbClr val="5E625D"/>
                </a:solidFill>
              </a:rPr>
              <a:t>gatilhos financeiros</a:t>
            </a:r>
          </a:p>
        </p:txBody>
      </p:sp>
      <p:sp>
        <p:nvSpPr>
          <p:cNvPr id="48" name="owners-rule">
            <a:extLst xmlns:a="http://schemas.openxmlformats.org/drawingml/2006/main">
              <a:ext uri="{FF2B5EF4-FFF2-40B4-BE49-F238E27FC236}">
                <a16:creationId xmlns:a16="http://schemas.microsoft.com/office/drawing/2014/main" id="{67D63C7E-F707-46C8-979F-88BD5B4A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25D"/>
                </a:solidFill>
              </a:defRPr>
            </a:pPr>
            <a:r>
              <a:rPr sz="1575" b="0">
                <a:solidFill>
                  <a:srgbClr val="5E625D"/>
                </a:solidFill>
              </a:rPr>
              <a:t>Regra de gestão: cada fase abre com critério de aceite escrito, passa por checkpoint de risco e fecha com demo + decisão de avanço.</a:t>
            </a:r>
          </a:p>
        </p:txBody>
      </p:sp>
      <p:sp>
        <p:nvSpPr>
          <p:cNvPr id="49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A602C81-A08C-4886-BE9B-FF3F8039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5A0AC82-42B7-4739-AD22-2130FC18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25D"/>
                </a:solidFill>
              </a:defRPr>
            </a:pPr>
            <a:r>
              <a:rPr sz="900" b="1">
                <a:solidFill>
                  <a:srgbClr val="5E625D"/>
                </a:solidFill>
              </a:rPr>
              <a:t>PHYLLOS DPP Integrado</a:t>
            </a:r>
          </a:p>
        </p:txBody>
      </p:sp>
      <p:sp>
        <p:nvSpPr>
          <p:cNvPr id="51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478E48A-4085-472C-B429-E8EA1F49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25D"/>
                </a:solidFill>
              </a:defRPr>
            </a:pPr>
            <a:r>
              <a:rPr sz="1050" b="1">
                <a:solidFill>
                  <a:srgbClr val="5E625D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081825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BD01D18-5D45-4C95-BF21-BC204177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A4F"/>
                </a:solidFill>
              </a:defRPr>
            </a:pPr>
            <a:r>
              <a:rPr sz="1050" b="1">
                <a:solidFill>
                  <a:srgbClr val="2D6A4F"/>
                </a:solidFill>
              </a:rPr>
              <a:t>EXECUÇÃO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B8F262-E882-46DE-8237-25C0FCF6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1515"/>
                </a:solidFill>
              </a:defRPr>
            </a:pPr>
            <a:r>
              <a:rPr sz="3150" b="1">
                <a:solidFill>
                  <a:srgbClr val="151515"/>
                </a:solidFill>
              </a:rPr>
              <a:t>Backlog por prioridade</a:t>
            </a:r>
          </a:p>
        </p:txBody>
      </p:sp>
      <p:sp>
        <p:nvSpPr>
          <p:cNvPr id="3" name="p0-panel">
            <a:extLst xmlns:a="http://schemas.openxmlformats.org/drawingml/2006/main">
              <a:ext uri="{FF2B5EF4-FFF2-40B4-BE49-F238E27FC236}">
                <a16:creationId xmlns:a16="http://schemas.microsoft.com/office/drawing/2014/main" id="{5E45D864-B257-4ADA-BA39-DEC82323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34290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0-mark">
            <a:extLst xmlns:a="http://schemas.openxmlformats.org/drawingml/2006/main">
              <a:ext uri="{FF2B5EF4-FFF2-40B4-BE49-F238E27FC236}">
                <a16:creationId xmlns:a16="http://schemas.microsoft.com/office/drawing/2014/main" id="{34C115DA-463B-46F5-9F45-FF2B3F14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0-title">
            <a:extLst xmlns:a="http://schemas.openxmlformats.org/drawingml/2006/main">
              <a:ext uri="{FF2B5EF4-FFF2-40B4-BE49-F238E27FC236}">
                <a16:creationId xmlns:a16="http://schemas.microsoft.com/office/drawing/2014/main" id="{0CB9E344-5FFB-4A99-9D63-AA9224DF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573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6A4F"/>
                </a:solidFill>
              </a:defRPr>
            </a:pPr>
            <a:r>
              <a:rPr sz="1650" b="1">
                <a:solidFill>
                  <a:srgbClr val="2D6A4F"/>
                </a:solidFill>
              </a:rPr>
              <a:t>P0 | MVP</a:t>
            </a:r>
          </a:p>
        </p:txBody>
      </p:sp>
      <p:sp>
        <p:nvSpPr>
          <p:cNvPr id="6" name="p0-body">
            <a:extLst xmlns:a="http://schemas.openxmlformats.org/drawingml/2006/main">
              <a:ext uri="{FF2B5EF4-FFF2-40B4-BE49-F238E27FC236}">
                <a16:creationId xmlns:a16="http://schemas.microsoft.com/office/drawing/2014/main" id="{83D934C3-D8F6-41B1-B1FF-EBA64E80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29718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Schema produto/material/DPP</a:t>
            </a:r>
          </a:p>
          <a:p xmlns:a="http://schemas.openxmlformats.org/drawingml/2006/main">
            <a:pPr algn="l"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Fórmula de indicadores</a:t>
            </a:r>
          </a:p>
          <a:p xmlns:a="http://schemas.openxmlformats.org/drawingml/2006/main">
            <a:pPr algn="l"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Upload de arquivo</a:t>
            </a:r>
          </a:p>
          <a:p xmlns:a="http://schemas.openxmlformats.org/drawingml/2006/main">
            <a:pPr algn="l"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Input área/perda</a:t>
            </a:r>
          </a:p>
          <a:p xmlns:a="http://schemas.openxmlformats.org/drawingml/2006/main">
            <a:pPr algn="l"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Cadastro de material</a:t>
            </a:r>
          </a:p>
          <a:p xmlns:a="http://schemas.openxmlformats.org/drawingml/2006/main">
            <a:pPr algn="l"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Status de evidência</a:t>
            </a:r>
          </a:p>
          <a:p xmlns:a="http://schemas.openxmlformats.org/drawingml/2006/main">
            <a:pPr algn="l"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QR e página pública</a:t>
            </a:r>
          </a:p>
          <a:p xmlns:a="http://schemas.openxmlformats.org/drawingml/2006/main">
            <a:pPr algn="l"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Testes dos cálculos</a:t>
            </a:r>
          </a:p>
        </p:txBody>
      </p:sp>
      <p:sp>
        <p:nvSpPr>
          <p:cNvPr id="7" name="p1-panel">
            <a:extLst xmlns:a="http://schemas.openxmlformats.org/drawingml/2006/main">
              <a:ext uri="{FF2B5EF4-FFF2-40B4-BE49-F238E27FC236}">
                <a16:creationId xmlns:a16="http://schemas.microsoft.com/office/drawing/2014/main" id="{2E97DA58-73A6-4BC8-807C-8074D3F1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85900"/>
            <a:ext cx="34290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1-mark">
            <a:extLst xmlns:a="http://schemas.openxmlformats.org/drawingml/2006/main">
              <a:ext uri="{FF2B5EF4-FFF2-40B4-BE49-F238E27FC236}">
                <a16:creationId xmlns:a16="http://schemas.microsoft.com/office/drawing/2014/main" id="{747E40FF-624B-4837-9A9A-6DC143B0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14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1-title">
            <a:extLst xmlns:a="http://schemas.openxmlformats.org/drawingml/2006/main">
              <a:ext uri="{FF2B5EF4-FFF2-40B4-BE49-F238E27FC236}">
                <a16:creationId xmlns:a16="http://schemas.microsoft.com/office/drawing/2014/main" id="{61A79F51-5C2B-4716-B607-6EA9ABF7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573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8A"/>
                </a:solidFill>
              </a:defRPr>
            </a:pPr>
            <a:r>
              <a:rPr sz="1650" b="1">
                <a:solidFill>
                  <a:srgbClr val="315E8A"/>
                </a:solidFill>
              </a:rPr>
              <a:t>P1 | Piloto</a:t>
            </a:r>
          </a:p>
        </p:txBody>
      </p:sp>
      <p:sp>
        <p:nvSpPr>
          <p:cNvPr id="10" name="p1-body">
            <a:extLst xmlns:a="http://schemas.openxmlformats.org/drawingml/2006/main">
              <a:ext uri="{FF2B5EF4-FFF2-40B4-BE49-F238E27FC236}">
                <a16:creationId xmlns:a16="http://schemas.microsoft.com/office/drawing/2014/main" id="{5486C81F-E8EB-48E1-AD12-67C3BC6E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33600"/>
            <a:ext cx="29718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Exportação JSON/CSV</a:t>
            </a:r>
          </a:p>
          <a:p xmlns:a="http://schemas.openxmlformats.org/drawingml/2006/main">
            <a:pPr algn="l"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Histórico de versão</a:t>
            </a:r>
          </a:p>
          <a:p xmlns:a="http://schemas.openxmlformats.org/drawingml/2006/main">
            <a:pPr algn="l"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Dashboard de lacunas</a:t>
            </a:r>
          </a:p>
          <a:p xmlns:a="http://schemas.openxmlformats.org/drawingml/2006/main">
            <a:pPr algn="l"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Templates de flashcards</a:t>
            </a:r>
          </a:p>
          <a:p xmlns:a="http://schemas.openxmlformats.org/drawingml/2006/main">
            <a:pPr algn="l"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Importação CSV/XLSX</a:t>
            </a:r>
          </a:p>
          <a:p xmlns:a="http://schemas.openxmlformats.org/drawingml/2006/main">
            <a:pPr algn="l"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Autenticação simples</a:t>
            </a:r>
          </a:p>
        </p:txBody>
      </p:sp>
      <p:sp>
        <p:nvSpPr>
          <p:cNvPr id="11" name="p2-panel">
            <a:extLst xmlns:a="http://schemas.openxmlformats.org/drawingml/2006/main">
              <a:ext uri="{FF2B5EF4-FFF2-40B4-BE49-F238E27FC236}">
                <a16:creationId xmlns:a16="http://schemas.microsoft.com/office/drawing/2014/main" id="{331B0E6B-700D-4F6E-8AF1-10C1E995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85900"/>
            <a:ext cx="34290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2-mark">
            <a:extLst xmlns:a="http://schemas.openxmlformats.org/drawingml/2006/main">
              <a:ext uri="{FF2B5EF4-FFF2-40B4-BE49-F238E27FC236}">
                <a16:creationId xmlns:a16="http://schemas.microsoft.com/office/drawing/2014/main" id="{C899E565-D242-4CCA-AD46-E73E16C2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14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2-title">
            <a:extLst xmlns:a="http://schemas.openxmlformats.org/drawingml/2006/main">
              <a:ext uri="{FF2B5EF4-FFF2-40B4-BE49-F238E27FC236}">
                <a16:creationId xmlns:a16="http://schemas.microsoft.com/office/drawing/2014/main" id="{3DA08388-BA11-4EDE-A0EC-7B844DE4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573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26B2B"/>
                </a:solidFill>
              </a:defRPr>
            </a:pPr>
            <a:r>
              <a:rPr sz="1650" b="1">
                <a:solidFill>
                  <a:srgbClr val="B26B2B"/>
                </a:solidFill>
              </a:rPr>
              <a:t>P2 | Futuro</a:t>
            </a:r>
          </a:p>
        </p:txBody>
      </p:sp>
      <p:sp>
        <p:nvSpPr>
          <p:cNvPr id="14" name="p2-body">
            <a:extLst xmlns:a="http://schemas.openxmlformats.org/drawingml/2006/main">
              <a:ext uri="{FF2B5EF4-FFF2-40B4-BE49-F238E27FC236}">
                <a16:creationId xmlns:a16="http://schemas.microsoft.com/office/drawing/2014/main" id="{46D7CAF6-DCF8-4C14-8B96-D51D2B98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33600"/>
            <a:ext cx="29718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Parser DXF/AAMA/ASTM</a:t>
            </a:r>
          </a:p>
          <a:p xmlns:a="http://schemas.openxmlformats.org/drawingml/2006/main">
            <a:pPr algn="l"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Integrações nativas</a:t>
            </a:r>
          </a:p>
          <a:p xmlns:a="http://schemas.openxmlformats.org/drawingml/2006/main">
            <a:pPr algn="l"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Assinatura/verificação</a:t>
            </a:r>
          </a:p>
          <a:p xmlns:a="http://schemas.openxmlformats.org/drawingml/2006/main">
            <a:pPr algn="l"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JSON-LD completo</a:t>
            </a:r>
          </a:p>
          <a:p xmlns:a="http://schemas.openxmlformats.org/drawingml/2006/main">
            <a:pPr algn="l"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Multiempresa robusto</a:t>
            </a:r>
          </a:p>
          <a:p xmlns:a="http://schemas.openxmlformats.org/drawingml/2006/main">
            <a:pPr algn="l"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API para parceiros</a:t>
            </a:r>
          </a:p>
        </p:txBody>
      </p:sp>
      <p:sp>
        <p:nvSpPr>
          <p:cNvPr id="15" name="backlog-acceptance">
            <a:extLst xmlns:a="http://schemas.openxmlformats.org/drawingml/2006/main">
              <a:ext uri="{FF2B5EF4-FFF2-40B4-BE49-F238E27FC236}">
                <a16:creationId xmlns:a16="http://schemas.microsoft.com/office/drawing/2014/main" id="{B8A97043-756E-42FE-A267-534359D6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515"/>
                </a:solidFill>
              </a:defRPr>
            </a:pPr>
            <a:r>
              <a:rPr sz="1650" b="1">
                <a:solidFill>
                  <a:srgbClr val="151515"/>
                </a:solidFill>
              </a:rPr>
              <a:t>Aceite do MVP: criar DPP completo por API, recalcular indicadores com teste determinístico, salvar arquivo/metadados e abrir flashcards em rota pública.</a:t>
            </a:r>
          </a:p>
        </p:txBody>
      </p:sp>
      <p:sp>
        <p:nvSpPr>
          <p:cNvPr id="16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5B50CBA-8431-4D8D-8D81-3661ADA4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D338FFE2-82E1-4D3A-B7BD-403CC106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25D"/>
                </a:solidFill>
              </a:defRPr>
            </a:pPr>
            <a:r>
              <a:rPr sz="900" b="1">
                <a:solidFill>
                  <a:srgbClr val="5E625D"/>
                </a:solidFill>
              </a:rPr>
              <a:t>PHYLLOS DPP Integrado</a:t>
            </a:r>
          </a:p>
        </p:txBody>
      </p:sp>
      <p:sp>
        <p:nvSpPr>
          <p:cNvPr id="1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374634E-F139-4C91-9237-1A37A587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25D"/>
                </a:solidFill>
              </a:defRPr>
            </a:pPr>
            <a:r>
              <a:rPr sz="1050" b="1">
                <a:solidFill>
                  <a:srgbClr val="5E625D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076652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2317F36F-4CE8-47E3-A070-7BFD5D21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A4F"/>
                </a:solidFill>
              </a:defRPr>
            </a:pPr>
            <a:r>
              <a:rPr sz="1050" b="1">
                <a:solidFill>
                  <a:srgbClr val="2D6A4F"/>
                </a:solidFill>
              </a:rPr>
              <a:t>CONTROLE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44D9AC-48E3-450B-ADA4-80CAD9A6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1515"/>
                </a:solidFill>
              </a:defRPr>
            </a:pPr>
            <a:r>
              <a:rPr sz="3150" b="1">
                <a:solidFill>
                  <a:srgbClr val="151515"/>
                </a:solidFill>
              </a:rPr>
              <a:t>Riscos e mitigação</a:t>
            </a:r>
          </a:p>
        </p:txBody>
      </p:sp>
      <p:sp>
        <p:nvSpPr>
          <p:cNvPr id="3" name="risk-0">
            <a:extLst xmlns:a="http://schemas.openxmlformats.org/drawingml/2006/main">
              <a:ext uri="{FF2B5EF4-FFF2-40B4-BE49-F238E27FC236}">
                <a16:creationId xmlns:a16="http://schemas.microsoft.com/office/drawing/2014/main" id="{A85BB17E-BB01-4269-90AF-BBF2E798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4" name="risk-mark-0">
            <a:extLst xmlns:a="http://schemas.openxmlformats.org/drawingml/2006/main">
              <a:ext uri="{FF2B5EF4-FFF2-40B4-BE49-F238E27FC236}">
                <a16:creationId xmlns:a16="http://schemas.microsoft.com/office/drawing/2014/main" id="{D5D528FE-1075-4ED0-A132-5FDED197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47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4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isk-title-0">
            <a:extLst xmlns:a="http://schemas.openxmlformats.org/drawingml/2006/main">
              <a:ext uri="{FF2B5EF4-FFF2-40B4-BE49-F238E27FC236}">
                <a16:creationId xmlns:a16="http://schemas.microsoft.com/office/drawing/2014/main" id="{8FBC94B5-C71D-4E90-96F7-8755AD5C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097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</a:defRPr>
            </a:pPr>
            <a:r>
              <a:rPr sz="1425" b="1">
                <a:solidFill>
                  <a:srgbClr val="151515"/>
                </a:solidFill>
              </a:rPr>
              <a:t>Usuário esperar edição de molde</a:t>
            </a:r>
          </a:p>
        </p:txBody>
      </p:sp>
      <p:sp>
        <p:nvSpPr>
          <p:cNvPr id="6" name="risk-mitigation-0">
            <a:extLst xmlns:a="http://schemas.openxmlformats.org/drawingml/2006/main">
              <a:ext uri="{FF2B5EF4-FFF2-40B4-BE49-F238E27FC236}">
                <a16:creationId xmlns:a16="http://schemas.microsoft.com/office/drawing/2014/main" id="{23EF7F94-B46B-4533-9A2F-72C38F17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6097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25D"/>
                </a:solidFill>
              </a:defRPr>
            </a:pPr>
            <a:r>
              <a:rPr sz="1425" b="0">
                <a:solidFill>
                  <a:srgbClr val="5E625D"/>
                </a:solidFill>
              </a:rPr>
              <a:t>Onboarding: importa dados, não edita desenho</a:t>
            </a:r>
          </a:p>
        </p:txBody>
      </p:sp>
      <p:sp>
        <p:nvSpPr>
          <p:cNvPr id="7" name="risk-1">
            <a:extLst xmlns:a="http://schemas.openxmlformats.org/drawingml/2006/main">
              <a:ext uri="{FF2B5EF4-FFF2-40B4-BE49-F238E27FC236}">
                <a16:creationId xmlns:a16="http://schemas.microsoft.com/office/drawing/2014/main" id="{F525279C-7CDA-4F4D-A785-334EFCEF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8" name="risk-mark-1">
            <a:extLst xmlns:a="http://schemas.openxmlformats.org/drawingml/2006/main">
              <a:ext uri="{FF2B5EF4-FFF2-40B4-BE49-F238E27FC236}">
                <a16:creationId xmlns:a16="http://schemas.microsoft.com/office/drawing/2014/main" id="{C651AAF9-07F1-434B-B873-5D7622B7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isk-title-1">
            <a:extLst xmlns:a="http://schemas.openxmlformats.org/drawingml/2006/main">
              <a:ext uri="{FF2B5EF4-FFF2-40B4-BE49-F238E27FC236}">
                <a16:creationId xmlns:a16="http://schemas.microsoft.com/office/drawing/2014/main" id="{1F2BD0AB-BBAC-4336-8F63-AFC8B0A3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907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</a:defRPr>
            </a:pPr>
            <a:r>
              <a:rPr sz="1425" b="1">
                <a:solidFill>
                  <a:srgbClr val="151515"/>
                </a:solidFill>
              </a:rPr>
              <a:t>Indicadores virarem greenwashing</a:t>
            </a:r>
          </a:p>
        </p:txBody>
      </p:sp>
      <p:sp>
        <p:nvSpPr>
          <p:cNvPr id="10" name="risk-mitigation-1">
            <a:extLst xmlns:a="http://schemas.openxmlformats.org/drawingml/2006/main">
              <a:ext uri="{FF2B5EF4-FFF2-40B4-BE49-F238E27FC236}">
                <a16:creationId xmlns:a16="http://schemas.microsoft.com/office/drawing/2014/main" id="{1A41D610-9AFD-48A8-BF4B-3B812CDD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907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25D"/>
                </a:solidFill>
              </a:defRPr>
            </a:pPr>
            <a:r>
              <a:rPr sz="1425" b="0">
                <a:solidFill>
                  <a:srgbClr val="5E625D"/>
                </a:solidFill>
              </a:rPr>
              <a:t>Estados de evidência obrigatórios</a:t>
            </a:r>
          </a:p>
        </p:txBody>
      </p:sp>
      <p:sp>
        <p:nvSpPr>
          <p:cNvPr id="11" name="risk-2">
            <a:extLst xmlns:a="http://schemas.openxmlformats.org/drawingml/2006/main">
              <a:ext uri="{FF2B5EF4-FFF2-40B4-BE49-F238E27FC236}">
                <a16:creationId xmlns:a16="http://schemas.microsoft.com/office/drawing/2014/main" id="{AA459D77-3C18-43FC-B80D-0CF258B7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12" name="risk-mark-2">
            <a:extLst xmlns:a="http://schemas.openxmlformats.org/drawingml/2006/main">
              <a:ext uri="{FF2B5EF4-FFF2-40B4-BE49-F238E27FC236}">
                <a16:creationId xmlns:a16="http://schemas.microsoft.com/office/drawing/2014/main" id="{7E207301-0808-407E-933D-750CFB9B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isk-title-2">
            <a:extLst xmlns:a="http://schemas.openxmlformats.org/drawingml/2006/main">
              <a:ext uri="{FF2B5EF4-FFF2-40B4-BE49-F238E27FC236}">
                <a16:creationId xmlns:a16="http://schemas.microsoft.com/office/drawing/2014/main" id="{0A410376-46AE-4142-B80F-487A7130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718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</a:defRPr>
            </a:pPr>
            <a:r>
              <a:rPr sz="1425" b="1">
                <a:solidFill>
                  <a:srgbClr val="151515"/>
                </a:solidFill>
              </a:rPr>
              <a:t>Área/perda virarem chute</a:t>
            </a:r>
          </a:p>
        </p:txBody>
      </p:sp>
      <p:sp>
        <p:nvSpPr>
          <p:cNvPr id="14" name="risk-mitigation-2">
            <a:extLst xmlns:a="http://schemas.openxmlformats.org/drawingml/2006/main">
              <a:ext uri="{FF2B5EF4-FFF2-40B4-BE49-F238E27FC236}">
                <a16:creationId xmlns:a16="http://schemas.microsoft.com/office/drawing/2014/main" id="{719EB010-E316-4646-84E3-33047E9E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718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25D"/>
                </a:solidFill>
              </a:defRPr>
            </a:pPr>
            <a:r>
              <a:rPr sz="1425" b="0">
                <a:solidFill>
                  <a:srgbClr val="5E625D"/>
                </a:solidFill>
              </a:rPr>
              <a:t>Origem do dado: arquivo, declarado ou estimado</a:t>
            </a:r>
          </a:p>
        </p:txBody>
      </p:sp>
      <p:sp>
        <p:nvSpPr>
          <p:cNvPr id="15" name="risk-3">
            <a:extLst xmlns:a="http://schemas.openxmlformats.org/drawingml/2006/main">
              <a:ext uri="{FF2B5EF4-FFF2-40B4-BE49-F238E27FC236}">
                <a16:creationId xmlns:a16="http://schemas.microsoft.com/office/drawing/2014/main" id="{5C1BB2DA-7544-463E-AB00-35982C09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16" name="risk-mark-3">
            <a:extLst xmlns:a="http://schemas.openxmlformats.org/drawingml/2006/main">
              <a:ext uri="{FF2B5EF4-FFF2-40B4-BE49-F238E27FC236}">
                <a16:creationId xmlns:a16="http://schemas.microsoft.com/office/drawing/2014/main" id="{B9EF367C-54EE-4780-91BA-8BD064C4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909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isk-title-3">
            <a:extLst xmlns:a="http://schemas.openxmlformats.org/drawingml/2006/main">
              <a:ext uri="{FF2B5EF4-FFF2-40B4-BE49-F238E27FC236}">
                <a16:creationId xmlns:a16="http://schemas.microsoft.com/office/drawing/2014/main" id="{FB3FB4B3-4879-4C8D-B63A-C500C1B3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528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</a:defRPr>
            </a:pPr>
            <a:r>
              <a:rPr sz="1425" b="1">
                <a:solidFill>
                  <a:srgbClr val="151515"/>
                </a:solidFill>
              </a:rPr>
              <a:t>Arquivos técnicos variarem demais</a:t>
            </a:r>
          </a:p>
        </p:txBody>
      </p:sp>
      <p:sp>
        <p:nvSpPr>
          <p:cNvPr id="18" name="risk-mitigation-3">
            <a:extLst xmlns:a="http://schemas.openxmlformats.org/drawingml/2006/main">
              <a:ext uri="{FF2B5EF4-FFF2-40B4-BE49-F238E27FC236}">
                <a16:creationId xmlns:a16="http://schemas.microsoft.com/office/drawing/2014/main" id="{C3EB43B4-D4BA-4F70-9651-98AA633E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528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25D"/>
                </a:solidFill>
              </a:defRPr>
            </a:pPr>
            <a:r>
              <a:rPr sz="1425" b="0">
                <a:solidFill>
                  <a:srgbClr val="5E625D"/>
                </a:solidFill>
              </a:rPr>
              <a:t>Input manual + CSV/XLSX antes de parser complexo</a:t>
            </a:r>
          </a:p>
        </p:txBody>
      </p:sp>
      <p:sp>
        <p:nvSpPr>
          <p:cNvPr id="19" name="risk-4">
            <a:extLst xmlns:a="http://schemas.openxmlformats.org/drawingml/2006/main">
              <a:ext uri="{FF2B5EF4-FFF2-40B4-BE49-F238E27FC236}">
                <a16:creationId xmlns:a16="http://schemas.microsoft.com/office/drawing/2014/main" id="{33C0A216-CE6B-45BF-81A7-AB4BDD51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9105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20" name="risk-mark-4">
            <a:extLst xmlns:a="http://schemas.openxmlformats.org/drawingml/2006/main">
              <a:ext uri="{FF2B5EF4-FFF2-40B4-BE49-F238E27FC236}">
                <a16:creationId xmlns:a16="http://schemas.microsoft.com/office/drawing/2014/main" id="{8DE7BC31-BD28-45D3-AB72-8F14EAC8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isk-title-4">
            <a:extLst xmlns:a="http://schemas.openxmlformats.org/drawingml/2006/main">
              <a:ext uri="{FF2B5EF4-FFF2-40B4-BE49-F238E27FC236}">
                <a16:creationId xmlns:a16="http://schemas.microsoft.com/office/drawing/2014/main" id="{FC0CA8EA-40D2-4EAA-90F4-FA7104FE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339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</a:defRPr>
            </a:pPr>
            <a:r>
              <a:rPr sz="1425" b="1">
                <a:solidFill>
                  <a:srgbClr val="151515"/>
                </a:solidFill>
              </a:rPr>
              <a:t>Compliance regulatório incerto</a:t>
            </a:r>
          </a:p>
        </p:txBody>
      </p:sp>
      <p:sp>
        <p:nvSpPr>
          <p:cNvPr id="22" name="risk-mitigation-4">
            <a:extLst xmlns:a="http://schemas.openxmlformats.org/drawingml/2006/main">
              <a:ext uri="{FF2B5EF4-FFF2-40B4-BE49-F238E27FC236}">
                <a16:creationId xmlns:a16="http://schemas.microsoft.com/office/drawing/2014/main" id="{12A03F32-DC22-4CF5-BB4C-7ECB43CB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7339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25D"/>
                </a:solidFill>
              </a:defRPr>
            </a:pPr>
            <a:r>
              <a:rPr sz="1425" b="0">
                <a:solidFill>
                  <a:srgbClr val="5E625D"/>
                </a:solidFill>
              </a:rPr>
              <a:t>Vender DPP-ready e transparência, não garantia jurídica</a:t>
            </a:r>
          </a:p>
        </p:txBody>
      </p:sp>
      <p:sp>
        <p:nvSpPr>
          <p:cNvPr id="23" name="risk-bottom">
            <a:extLst xmlns:a="http://schemas.openxmlformats.org/drawingml/2006/main">
              <a:ext uri="{FF2B5EF4-FFF2-40B4-BE49-F238E27FC236}">
                <a16:creationId xmlns:a16="http://schemas.microsoft.com/office/drawing/2014/main" id="{F46BA921-5938-4D5C-95D7-89A39D9A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515"/>
                </a:solidFill>
              </a:defRPr>
            </a:pPr>
            <a:r>
              <a:rPr sz="1650" b="1">
                <a:solidFill>
                  <a:srgbClr val="151515"/>
                </a:solidFill>
              </a:rPr>
              <a:t>O risco principal não é tecnologia; é escopo. A V1 precisa provar cálculo, evidência e publicação antes de prometer modelagem, auditoria ou PLM.</a:t>
            </a:r>
          </a:p>
        </p:txBody>
      </p:sp>
      <p:sp>
        <p:nvSpPr>
          <p:cNvPr id="2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8E374BDF-DAFC-40A8-B880-E38A9214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4CF8F52-7C5C-4545-A4D8-C486D4AA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25D"/>
                </a:solidFill>
              </a:defRPr>
            </a:pPr>
            <a:r>
              <a:rPr sz="900" b="1">
                <a:solidFill>
                  <a:srgbClr val="5E625D"/>
                </a:solidFill>
              </a:rPr>
              <a:t>PHYLLOS DPP Integrado</a:t>
            </a:r>
          </a:p>
        </p:txBody>
      </p:sp>
      <p:sp>
        <p:nvSpPr>
          <p:cNvPr id="2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2DD6397-44C3-47D7-9946-23F63BE7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25D"/>
                </a:solidFill>
              </a:defRPr>
            </a:pPr>
            <a:r>
              <a:rPr sz="1050" b="1">
                <a:solidFill>
                  <a:srgbClr val="5E625D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277500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D5B91B01-879B-47A6-BBE1-EBA819DE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A4F"/>
                </a:solidFill>
              </a:defRPr>
            </a:pPr>
            <a:r>
              <a:rPr sz="1050" b="1">
                <a:solidFill>
                  <a:srgbClr val="2D6A4F"/>
                </a:solidFill>
              </a:rPr>
              <a:t>PRÓXIMOS 10 DIAS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907EE8-0C99-4699-9FB9-0CED74ED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1515"/>
                </a:solidFill>
              </a:defRPr>
            </a:pPr>
            <a:r>
              <a:rPr sz="3150" b="1">
                <a:solidFill>
                  <a:srgbClr val="151515"/>
                </a:solidFill>
              </a:rPr>
              <a:t>Próxima ação dos líderes</a:t>
            </a:r>
          </a:p>
        </p:txBody>
      </p:sp>
      <p:sp>
        <p:nvSpPr>
          <p:cNvPr id="3" name="next-prd-panel">
            <a:extLst xmlns:a="http://schemas.openxmlformats.org/drawingml/2006/main">
              <a:ext uri="{FF2B5EF4-FFF2-40B4-BE49-F238E27FC236}">
                <a16:creationId xmlns:a16="http://schemas.microsoft.com/office/drawing/2014/main" id="{99735D06-4E11-4EAE-B734-3005939E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5162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4" name="next-prd-stripe">
            <a:extLst xmlns:a="http://schemas.openxmlformats.org/drawingml/2006/main">
              <a:ext uri="{FF2B5EF4-FFF2-40B4-BE49-F238E27FC236}">
                <a16:creationId xmlns:a16="http://schemas.microsoft.com/office/drawing/2014/main" id="{850D1FA6-7E40-4691-8CE4-2AE4C09D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next-prd-title">
            <a:extLst xmlns:a="http://schemas.openxmlformats.org/drawingml/2006/main">
              <a:ext uri="{FF2B5EF4-FFF2-40B4-BE49-F238E27FC236}">
                <a16:creationId xmlns:a16="http://schemas.microsoft.com/office/drawing/2014/main" id="{100FCC5B-A6E9-4C13-9BE3-4AFC0AE9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480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4F"/>
                </a:solidFill>
              </a:defRPr>
            </a:pPr>
            <a:r>
              <a:rPr sz="1350" b="1">
                <a:solidFill>
                  <a:srgbClr val="2D6A4F"/>
                </a:solidFill>
              </a:rPr>
              <a:t>1. PRD v0</a:t>
            </a:r>
          </a:p>
        </p:txBody>
      </p:sp>
      <p:sp>
        <p:nvSpPr>
          <p:cNvPr id="6" name="next-prd-body">
            <a:extLst xmlns:a="http://schemas.openxmlformats.org/drawingml/2006/main">
              <a:ext uri="{FF2B5EF4-FFF2-40B4-BE49-F238E27FC236}">
                <a16:creationId xmlns:a16="http://schemas.microsoft.com/office/drawing/2014/main" id="{57C0F5EE-DA57-4D2E-BD3B-E0382251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480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Transformar tese em escopo, jornada, critérios de aceite, campos obrigatórios e limites explícitos da V1.</a:t>
            </a:r>
          </a:p>
        </p:txBody>
      </p:sp>
      <p:sp>
        <p:nvSpPr>
          <p:cNvPr id="7" name="next-schema-panel">
            <a:extLst xmlns:a="http://schemas.openxmlformats.org/drawingml/2006/main">
              <a:ext uri="{FF2B5EF4-FFF2-40B4-BE49-F238E27FC236}">
                <a16:creationId xmlns:a16="http://schemas.microsoft.com/office/drawing/2014/main" id="{38BEA9B8-BBA0-42F5-9553-1F602FC3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85900"/>
            <a:ext cx="5162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8" name="next-schema-stripe">
            <a:extLst xmlns:a="http://schemas.openxmlformats.org/drawingml/2006/main">
              <a:ext uri="{FF2B5EF4-FFF2-40B4-BE49-F238E27FC236}">
                <a16:creationId xmlns:a16="http://schemas.microsoft.com/office/drawing/2014/main" id="{29825B22-2742-46A7-8B25-946F5BB0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859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ext-schema-title">
            <a:extLst xmlns:a="http://schemas.openxmlformats.org/drawingml/2006/main">
              <a:ext uri="{FF2B5EF4-FFF2-40B4-BE49-F238E27FC236}">
                <a16:creationId xmlns:a16="http://schemas.microsoft.com/office/drawing/2014/main" id="{5DA67844-6EB9-459C-8E59-CE09E145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57350"/>
            <a:ext cx="480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E8A"/>
                </a:solidFill>
              </a:defRPr>
            </a:pPr>
            <a:r>
              <a:rPr sz="1350" b="1">
                <a:solidFill>
                  <a:srgbClr val="315E8A"/>
                </a:solidFill>
              </a:rPr>
              <a:t>2. Schema inicial</a:t>
            </a:r>
          </a:p>
        </p:txBody>
      </p:sp>
      <p:sp>
        <p:nvSpPr>
          <p:cNvPr id="10" name="next-schema-body">
            <a:extLst xmlns:a="http://schemas.openxmlformats.org/drawingml/2006/main">
              <a:ext uri="{FF2B5EF4-FFF2-40B4-BE49-F238E27FC236}">
                <a16:creationId xmlns:a16="http://schemas.microsoft.com/office/drawing/2014/main" id="{36ED454B-5CAB-482A-8895-09DAF069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480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Criar produto, material, lote, arquivo técnico, indicador, evidência, DPP e flashcard como entidades testáveis.</a:t>
            </a:r>
          </a:p>
        </p:txBody>
      </p:sp>
      <p:sp>
        <p:nvSpPr>
          <p:cNvPr id="11" name="next-proto-panel">
            <a:extLst xmlns:a="http://schemas.openxmlformats.org/drawingml/2006/main">
              <a:ext uri="{FF2B5EF4-FFF2-40B4-BE49-F238E27FC236}">
                <a16:creationId xmlns:a16="http://schemas.microsoft.com/office/drawing/2014/main" id="{7C248721-40E0-46D4-AE5E-CF506EA2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5162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12" name="next-proto-stripe">
            <a:extLst xmlns:a="http://schemas.openxmlformats.org/drawingml/2006/main">
              <a:ext uri="{FF2B5EF4-FFF2-40B4-BE49-F238E27FC236}">
                <a16:creationId xmlns:a16="http://schemas.microsoft.com/office/drawing/2014/main" id="{E2032249-75A4-4AA0-B232-2DA5D42C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ext-proto-title">
            <a:extLst xmlns:a="http://schemas.openxmlformats.org/drawingml/2006/main">
              <a:ext uri="{FF2B5EF4-FFF2-40B4-BE49-F238E27FC236}">
                <a16:creationId xmlns:a16="http://schemas.microsoft.com/office/drawing/2014/main" id="{153DD5DA-B2D5-4AFD-8822-5D83D8F8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480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26B2B"/>
                </a:solidFill>
              </a:defRPr>
            </a:pPr>
            <a:r>
              <a:rPr sz="1350" b="1">
                <a:solidFill>
                  <a:srgbClr val="B26B2B"/>
                </a:solidFill>
              </a:rPr>
              <a:t>3. Protótipo como referência</a:t>
            </a:r>
          </a:p>
        </p:txBody>
      </p:sp>
      <p:sp>
        <p:nvSpPr>
          <p:cNvPr id="14" name="next-proto-body">
            <a:extLst xmlns:a="http://schemas.openxmlformats.org/drawingml/2006/main">
              <a:ext uri="{FF2B5EF4-FFF2-40B4-BE49-F238E27FC236}">
                <a16:creationId xmlns:a16="http://schemas.microsoft.com/office/drawing/2014/main" id="{1844072C-84CE-4347-B546-20034BBF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480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Usar phyllos/dpp-studio.html para validar fluxo, linguagem, status de evidência e experiência de QR.</a:t>
            </a:r>
          </a:p>
        </p:txBody>
      </p:sp>
      <p:sp>
        <p:nvSpPr>
          <p:cNvPr id="15" name="next-backend-panel">
            <a:extLst xmlns:a="http://schemas.openxmlformats.org/drawingml/2006/main">
              <a:ext uri="{FF2B5EF4-FFF2-40B4-BE49-F238E27FC236}">
                <a16:creationId xmlns:a16="http://schemas.microsoft.com/office/drawing/2014/main" id="{9A74679E-5953-4246-BB68-287BC867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5162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6"/>
            </a:solidFill>
            <a:prstDash val="solid"/>
          </a:ln>
        </p:spPr>
      </p:sp>
      <p:sp>
        <p:nvSpPr>
          <p:cNvPr id="16" name="next-backend-stripe">
            <a:extLst xmlns:a="http://schemas.openxmlformats.org/drawingml/2006/main">
              <a:ext uri="{FF2B5EF4-FFF2-40B4-BE49-F238E27FC236}">
                <a16:creationId xmlns:a16="http://schemas.microsoft.com/office/drawing/2014/main" id="{BBE5B57C-6BD6-4361-8E8B-11F4321E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ext-backend-title">
            <a:extLst xmlns:a="http://schemas.openxmlformats.org/drawingml/2006/main">
              <a:ext uri="{FF2B5EF4-FFF2-40B4-BE49-F238E27FC236}">
                <a16:creationId xmlns:a16="http://schemas.microsoft.com/office/drawing/2014/main" id="{F0223DBA-B635-45E7-AF2B-9CC300C1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00400"/>
            <a:ext cx="480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A441"/>
                </a:solidFill>
              </a:defRPr>
            </a:pPr>
            <a:r>
              <a:rPr sz="1350" b="1">
                <a:solidFill>
                  <a:srgbClr val="D8A441"/>
                </a:solidFill>
              </a:rPr>
              <a:t>4. Backend mínimo</a:t>
            </a:r>
          </a:p>
        </p:txBody>
      </p:sp>
      <p:sp>
        <p:nvSpPr>
          <p:cNvPr id="18" name="next-backend-body">
            <a:extLst xmlns:a="http://schemas.openxmlformats.org/drawingml/2006/main">
              <a:ext uri="{FF2B5EF4-FFF2-40B4-BE49-F238E27FC236}">
                <a16:creationId xmlns:a16="http://schemas.microsoft.com/office/drawing/2014/main" id="{63146388-2355-48FD-8B4E-BEFA7B3B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05200"/>
            <a:ext cx="480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Implementar cálculo determinístico, upload com metadados, DPP rascunho e rota pública de flashcards.</a:t>
            </a:r>
          </a:p>
        </p:txBody>
      </p:sp>
      <p:sp>
        <p:nvSpPr>
          <p:cNvPr id="19" name="next-decision-panel">
            <a:extLst xmlns:a="http://schemas.openxmlformats.org/drawingml/2006/main">
              <a:ext uri="{FF2B5EF4-FFF2-40B4-BE49-F238E27FC236}">
                <a16:creationId xmlns:a16="http://schemas.microsoft.com/office/drawing/2014/main" id="{91AC4C3C-400B-4D92-A2C1-326D8E06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1066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next-decision">
            <a:extLst xmlns:a="http://schemas.openxmlformats.org/drawingml/2006/main">
              <a:ext uri="{FF2B5EF4-FFF2-40B4-BE49-F238E27FC236}">
                <a16:creationId xmlns:a16="http://schemas.microsoft.com/office/drawing/2014/main" id="{8C4E64B6-063F-4598-856A-C900F4C1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Decisão pedida: aprovar o recorte P0 e iniciar a semana 1 sem reabrir edição de molde.</a:t>
            </a:r>
          </a:p>
        </p:txBody>
      </p:sp>
      <p:sp>
        <p:nvSpPr>
          <p:cNvPr id="21" name="footer-line">
            <a:extLst xmlns:a="http://schemas.openxmlformats.org/drawingml/2006/main">
              <a:ext uri="{FF2B5EF4-FFF2-40B4-BE49-F238E27FC236}">
                <a16:creationId xmlns:a16="http://schemas.microsoft.com/office/drawing/2014/main" id="{B5019A9A-9A3F-4AD0-9A01-F62D9692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24C3F54-C367-49BF-967E-F9177292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25D"/>
                </a:solidFill>
              </a:defRPr>
            </a:pPr>
            <a:r>
              <a:rPr sz="900" b="1">
                <a:solidFill>
                  <a:srgbClr val="5E625D"/>
                </a:solidFill>
              </a:rPr>
              <a:t>PHYLLOS DPP Integrado</a:t>
            </a:r>
          </a:p>
        </p:txBody>
      </p:sp>
      <p:sp>
        <p:nvSpPr>
          <p:cNvPr id="2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1ED2C4E-B277-4D94-B63A-041209F2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25D"/>
                </a:solidFill>
              </a:defRPr>
            </a:pPr>
            <a:r>
              <a:rPr sz="1050" b="1">
                <a:solidFill>
                  <a:srgbClr val="5E625D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467784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2026-06-25T13:13:26.6750000Z</dcterms:created>
  <dcterms:modified xsi:type="dcterms:W3CDTF">2026-06-25T13:13:26.6750000Z</dcterms:modified>
</coreProperties>
</file>